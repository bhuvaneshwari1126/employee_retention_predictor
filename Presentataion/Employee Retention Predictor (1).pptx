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8288000" cy="10287000"/>
  <p:notesSz cx="6858000" cy="9144000"/>
  <p:embeddedFontLst>
    <p:embeddedFont>
      <p:font typeface="Assistant" pitchFamily="2" charset="-79"/>
      <p:regular r:id="rId14"/>
      <p:bold r:id="rId15"/>
    </p:embeddedFont>
    <p:embeddedFont>
      <p:font typeface="Assistant Bold" charset="-79"/>
      <p:regular r:id="rId16"/>
    </p:embeddedFont>
    <p:embeddedFont>
      <p:font typeface="Roboto" panose="02000000000000000000" pitchFamily="2" charset="0"/>
      <p:regular r:id="rId17"/>
      <p:bold r:id="rId18"/>
      <p:italic r:id="rId19"/>
      <p:boldItalic r:id="rId20"/>
    </p:embeddedFont>
    <p:embeddedFont>
      <p:font typeface="Roboto Bold" panose="02000000000000000000" charset="0"/>
      <p:regular r:id="rId21"/>
    </p:embeddedFont>
    <p:embeddedFont>
      <p:font typeface="Roca One" panose="020B0604020202020204" charset="0"/>
      <p:regular r:id="rId22"/>
    </p:embeddedFont>
    <p:embeddedFont>
      <p:font typeface="Roca One Bold" panose="020B0604020202020204" charset="0"/>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A379118-936A-4922-BB18-0612A95C8E42}" v="1" dt="2026-07-21T10:14:34.96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43" d="100"/>
          <a:sy n="43" d="100"/>
        </p:scale>
        <p:origin x="108" y="31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font" Target="fonts/font10.fntdata"/><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font" Target="fonts/font9.fntdata"/><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adeep Yuvaraj" userId="247beeb7cfe215a4" providerId="LiveId" clId="{1718541C-D1B8-4FD5-9E71-93BFA85DCCAA}"/>
    <pc:docChg chg="undo custSel modSld">
      <pc:chgData name="Pradeep Yuvaraj" userId="247beeb7cfe215a4" providerId="LiveId" clId="{1718541C-D1B8-4FD5-9E71-93BFA85DCCAA}" dt="2026-07-21T10:30:41.246" v="90" actId="20577"/>
      <pc:docMkLst>
        <pc:docMk/>
      </pc:docMkLst>
      <pc:sldChg chg="modSp mod">
        <pc:chgData name="Pradeep Yuvaraj" userId="247beeb7cfe215a4" providerId="LiveId" clId="{1718541C-D1B8-4FD5-9E71-93BFA85DCCAA}" dt="2026-07-21T10:30:41.246" v="90" actId="20577"/>
        <pc:sldMkLst>
          <pc:docMk/>
          <pc:sldMk cId="0" sldId="256"/>
        </pc:sldMkLst>
        <pc:spChg chg="mod">
          <ac:chgData name="Pradeep Yuvaraj" userId="247beeb7cfe215a4" providerId="LiveId" clId="{1718541C-D1B8-4FD5-9E71-93BFA85DCCAA}" dt="2026-07-21T10:30:41.246" v="90" actId="20577"/>
          <ac:spMkLst>
            <pc:docMk/>
            <pc:sldMk cId="0" sldId="256"/>
            <ac:spMk id="13" creationId="{00000000-0000-0000-0000-000000000000}"/>
          </ac:spMkLst>
        </pc:spChg>
      </pc:sldChg>
      <pc:sldChg chg="modSp mod">
        <pc:chgData name="Pradeep Yuvaraj" userId="247beeb7cfe215a4" providerId="LiveId" clId="{1718541C-D1B8-4FD5-9E71-93BFA85DCCAA}" dt="2026-07-21T10:26:26.823" v="75" actId="1037"/>
        <pc:sldMkLst>
          <pc:docMk/>
          <pc:sldMk cId="0" sldId="260"/>
        </pc:sldMkLst>
        <pc:spChg chg="mod">
          <ac:chgData name="Pradeep Yuvaraj" userId="247beeb7cfe215a4" providerId="LiveId" clId="{1718541C-D1B8-4FD5-9E71-93BFA85DCCAA}" dt="2026-07-21T10:24:47.938" v="73" actId="1037"/>
          <ac:spMkLst>
            <pc:docMk/>
            <pc:sldMk cId="0" sldId="260"/>
            <ac:spMk id="2" creationId="{00000000-0000-0000-0000-000000000000}"/>
          </ac:spMkLst>
        </pc:spChg>
        <pc:spChg chg="mod">
          <ac:chgData name="Pradeep Yuvaraj" userId="247beeb7cfe215a4" providerId="LiveId" clId="{1718541C-D1B8-4FD5-9E71-93BFA85DCCAA}" dt="2026-07-21T10:24:37.290" v="72" actId="115"/>
          <ac:spMkLst>
            <pc:docMk/>
            <pc:sldMk cId="0" sldId="260"/>
            <ac:spMk id="11" creationId="{00000000-0000-0000-0000-000000000000}"/>
          </ac:spMkLst>
        </pc:spChg>
        <pc:grpChg chg="mod">
          <ac:chgData name="Pradeep Yuvaraj" userId="247beeb7cfe215a4" providerId="LiveId" clId="{1718541C-D1B8-4FD5-9E71-93BFA85DCCAA}" dt="2026-07-21T10:26:26.823" v="75" actId="1037"/>
          <ac:grpSpMkLst>
            <pc:docMk/>
            <pc:sldMk cId="0" sldId="260"/>
            <ac:grpSpMk id="3" creationId="{00000000-0000-0000-0000-000000000000}"/>
          </ac:grpSpMkLst>
        </pc:grpChg>
      </pc:sldChg>
      <pc:sldChg chg="addSp delSp modSp mod">
        <pc:chgData name="Pradeep Yuvaraj" userId="247beeb7cfe215a4" providerId="LiveId" clId="{1718541C-D1B8-4FD5-9E71-93BFA85DCCAA}" dt="2026-07-21T10:21:19.601" v="57" actId="1076"/>
        <pc:sldMkLst>
          <pc:docMk/>
          <pc:sldMk cId="0" sldId="261"/>
        </pc:sldMkLst>
        <pc:grpChg chg="mod">
          <ac:chgData name="Pradeep Yuvaraj" userId="247beeb7cfe215a4" providerId="LiveId" clId="{1718541C-D1B8-4FD5-9E71-93BFA85DCCAA}" dt="2026-07-21T10:21:19.601" v="57" actId="1076"/>
          <ac:grpSpMkLst>
            <pc:docMk/>
            <pc:sldMk cId="0" sldId="261"/>
            <ac:grpSpMk id="3" creationId="{00000000-0000-0000-0000-000000000000}"/>
          </ac:grpSpMkLst>
        </pc:grpChg>
        <pc:graphicFrameChg chg="del mod">
          <ac:chgData name="Pradeep Yuvaraj" userId="247beeb7cfe215a4" providerId="LiveId" clId="{1718541C-D1B8-4FD5-9E71-93BFA85DCCAA}" dt="2026-07-21T10:13:20.466" v="1" actId="478"/>
          <ac:graphicFrameMkLst>
            <pc:docMk/>
            <pc:sldMk cId="0" sldId="261"/>
            <ac:graphicFrameMk id="9" creationId="{00000000-0000-0000-0000-000000000000}"/>
          </ac:graphicFrameMkLst>
        </pc:graphicFrameChg>
        <pc:graphicFrameChg chg="add del mod modGraphic">
          <ac:chgData name="Pradeep Yuvaraj" userId="247beeb7cfe215a4" providerId="LiveId" clId="{1718541C-D1B8-4FD5-9E71-93BFA85DCCAA}" dt="2026-07-21T10:19:50.636" v="46" actId="478"/>
          <ac:graphicFrameMkLst>
            <pc:docMk/>
            <pc:sldMk cId="0" sldId="261"/>
            <ac:graphicFrameMk id="11" creationId="{2A9C77D4-AC06-9E2C-780D-03B589C2BE9F}"/>
          </ac:graphicFrameMkLst>
        </pc:graphicFrameChg>
        <pc:graphicFrameChg chg="add mod modGraphic">
          <ac:chgData name="Pradeep Yuvaraj" userId="247beeb7cfe215a4" providerId="LiveId" clId="{1718541C-D1B8-4FD5-9E71-93BFA85DCCAA}" dt="2026-07-21T10:20:15.107" v="52" actId="14100"/>
          <ac:graphicFrameMkLst>
            <pc:docMk/>
            <pc:sldMk cId="0" sldId="261"/>
            <ac:graphicFrameMk id="12" creationId="{F1FA7B06-43AC-907F-A941-94FC0387D1AA}"/>
          </ac:graphicFrameMkLst>
        </pc:graphicFrameChg>
        <pc:graphicFrameChg chg="add mod modGraphic">
          <ac:chgData name="Pradeep Yuvaraj" userId="247beeb7cfe215a4" providerId="LiveId" clId="{1718541C-D1B8-4FD5-9E71-93BFA85DCCAA}" dt="2026-07-21T10:21:07.502" v="56" actId="14100"/>
          <ac:graphicFrameMkLst>
            <pc:docMk/>
            <pc:sldMk cId="0" sldId="261"/>
            <ac:graphicFrameMk id="14" creationId="{676B20D6-8947-7846-E246-1ED2F4BE53B1}"/>
          </ac:graphicFrameMkLst>
        </pc:graphicFrameChg>
      </pc:sldChg>
      <pc:sldChg chg="modSp mod">
        <pc:chgData name="Pradeep Yuvaraj" userId="247beeb7cfe215a4" providerId="LiveId" clId="{1718541C-D1B8-4FD5-9E71-93BFA85DCCAA}" dt="2026-07-21T10:27:44.896" v="81" actId="1037"/>
        <pc:sldMkLst>
          <pc:docMk/>
          <pc:sldMk cId="0" sldId="262"/>
        </pc:sldMkLst>
        <pc:spChg chg="mod">
          <ac:chgData name="Pradeep Yuvaraj" userId="247beeb7cfe215a4" providerId="LiveId" clId="{1718541C-D1B8-4FD5-9E71-93BFA85DCCAA}" dt="2026-07-21T10:22:11.203" v="66" actId="1037"/>
          <ac:spMkLst>
            <pc:docMk/>
            <pc:sldMk cId="0" sldId="262"/>
            <ac:spMk id="2" creationId="{00000000-0000-0000-0000-000000000000}"/>
          </ac:spMkLst>
        </pc:spChg>
        <pc:spChg chg="mod">
          <ac:chgData name="Pradeep Yuvaraj" userId="247beeb7cfe215a4" providerId="LiveId" clId="{1718541C-D1B8-4FD5-9E71-93BFA85DCCAA}" dt="2026-07-21T10:21:58.847" v="60" actId="14100"/>
          <ac:spMkLst>
            <pc:docMk/>
            <pc:sldMk cId="0" sldId="262"/>
            <ac:spMk id="9" creationId="{00000000-0000-0000-0000-000000000000}"/>
          </ac:spMkLst>
        </pc:spChg>
        <pc:spChg chg="mod">
          <ac:chgData name="Pradeep Yuvaraj" userId="247beeb7cfe215a4" providerId="LiveId" clId="{1718541C-D1B8-4FD5-9E71-93BFA85DCCAA}" dt="2026-07-21T10:27:33.336" v="79" actId="403"/>
          <ac:spMkLst>
            <pc:docMk/>
            <pc:sldMk cId="0" sldId="262"/>
            <ac:spMk id="11" creationId="{00000000-0000-0000-0000-000000000000}"/>
          </ac:spMkLst>
        </pc:spChg>
        <pc:grpChg chg="mod">
          <ac:chgData name="Pradeep Yuvaraj" userId="247beeb7cfe215a4" providerId="LiveId" clId="{1718541C-D1B8-4FD5-9E71-93BFA85DCCAA}" dt="2026-07-21T10:27:44.896" v="81" actId="1037"/>
          <ac:grpSpMkLst>
            <pc:docMk/>
            <pc:sldMk cId="0" sldId="262"/>
            <ac:grpSpMk id="3" creationId="{00000000-0000-0000-0000-000000000000}"/>
          </ac:grpSpMkLst>
        </pc:grpChg>
      </pc:sldChg>
      <pc:sldChg chg="modSp mod">
        <pc:chgData name="Pradeep Yuvaraj" userId="247beeb7cfe215a4" providerId="LiveId" clId="{1718541C-D1B8-4FD5-9E71-93BFA85DCCAA}" dt="2026-07-21T10:23:46.428" v="70" actId="14100"/>
        <pc:sldMkLst>
          <pc:docMk/>
          <pc:sldMk cId="0" sldId="263"/>
        </pc:sldMkLst>
        <pc:spChg chg="mod">
          <ac:chgData name="Pradeep Yuvaraj" userId="247beeb7cfe215a4" providerId="LiveId" clId="{1718541C-D1B8-4FD5-9E71-93BFA85DCCAA}" dt="2026-07-21T10:23:46.428" v="70" actId="14100"/>
          <ac:spMkLst>
            <pc:docMk/>
            <pc:sldMk cId="0" sldId="263"/>
            <ac:spMk id="10" creationId="{00000000-0000-0000-0000-000000000000}"/>
          </ac:spMkLst>
        </pc:spChg>
        <pc:spChg chg="mod">
          <ac:chgData name="Pradeep Yuvaraj" userId="247beeb7cfe215a4" providerId="LiveId" clId="{1718541C-D1B8-4FD5-9E71-93BFA85DCCAA}" dt="2026-07-21T10:23:03.170" v="68" actId="404"/>
          <ac:spMkLst>
            <pc:docMk/>
            <pc:sldMk cId="0" sldId="263"/>
            <ac:spMk id="11" creationId="{00000000-0000-0000-0000-000000000000}"/>
          </ac:spMkLst>
        </pc:spChg>
      </pc:sldChg>
      <pc:sldChg chg="modSp mod">
        <pc:chgData name="Pradeep Yuvaraj" userId="247beeb7cfe215a4" providerId="LiveId" clId="{1718541C-D1B8-4FD5-9E71-93BFA85DCCAA}" dt="2026-07-21T10:29:14.741" v="85" actId="404"/>
        <pc:sldMkLst>
          <pc:docMk/>
          <pc:sldMk cId="0" sldId="264"/>
        </pc:sldMkLst>
        <pc:spChg chg="mod">
          <ac:chgData name="Pradeep Yuvaraj" userId="247beeb7cfe215a4" providerId="LiveId" clId="{1718541C-D1B8-4FD5-9E71-93BFA85DCCAA}" dt="2026-07-21T10:29:14.741" v="85" actId="404"/>
          <ac:spMkLst>
            <pc:docMk/>
            <pc:sldMk cId="0" sldId="264"/>
            <ac:spMk id="5" creationId="{00000000-0000-0000-0000-000000000000}"/>
          </ac:spMkLst>
        </pc:spChg>
        <pc:spChg chg="mod">
          <ac:chgData name="Pradeep Yuvaraj" userId="247beeb7cfe215a4" providerId="LiveId" clId="{1718541C-D1B8-4FD5-9E71-93BFA85DCCAA}" dt="2026-07-21T10:28:56.549" v="84" actId="404"/>
          <ac:spMkLst>
            <pc:docMk/>
            <pc:sldMk cId="0" sldId="264"/>
            <ac:spMk id="11"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3307B08-2098-420E-920C-3F15EE506DC9}" type="datetimeFigureOut">
              <a:rPr lang="en-IN" smtClean="0"/>
              <a:t>21-07-2026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60957F8-DF6A-4AED-AC7D-F19E549088BD}" type="slidenum">
              <a:rPr lang="en-IN" smtClean="0"/>
              <a:t>‹#›</a:t>
            </a:fld>
            <a:endParaRPr lang="en-IN"/>
          </a:p>
        </p:txBody>
      </p:sp>
    </p:spTree>
    <p:extLst>
      <p:ext uri="{BB962C8B-B14F-4D97-AF65-F5344CB8AC3E}">
        <p14:creationId xmlns:p14="http://schemas.microsoft.com/office/powerpoint/2010/main" val="3346834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760957F8-DF6A-4AED-AC7D-F19E549088BD}" type="slidenum">
              <a:rPr lang="en-IN" smtClean="0"/>
              <a:t>7</a:t>
            </a:fld>
            <a:endParaRPr lang="en-IN"/>
          </a:p>
        </p:txBody>
      </p:sp>
    </p:spTree>
    <p:extLst>
      <p:ext uri="{BB962C8B-B14F-4D97-AF65-F5344CB8AC3E}">
        <p14:creationId xmlns:p14="http://schemas.microsoft.com/office/powerpoint/2010/main" val="8354162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760957F8-DF6A-4AED-AC7D-F19E549088BD}" type="slidenum">
              <a:rPr lang="en-IN" smtClean="0"/>
              <a:t>9</a:t>
            </a:fld>
            <a:endParaRPr lang="en-IN"/>
          </a:p>
        </p:txBody>
      </p:sp>
    </p:spTree>
    <p:extLst>
      <p:ext uri="{BB962C8B-B14F-4D97-AF65-F5344CB8AC3E}">
        <p14:creationId xmlns:p14="http://schemas.microsoft.com/office/powerpoint/2010/main" val="40214751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7/21/2026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7/21/2026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7/21/2026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7/21/2026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7/21/2026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3.svg"/></Relationships>
</file>

<file path=ppt/slides/_rels/slide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7.svg"/><Relationship Id="rId5" Type="http://schemas.openxmlformats.org/officeDocument/2006/relationships/image" Target="../media/image6.svg"/><Relationship Id="rId4" Type="http://schemas.openxmlformats.org/officeDocument/2006/relationships/image" Target="../media/image3.svg"/></Relationships>
</file>

<file path=ppt/slides/_rels/slide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8.svg"/><Relationship Id="rId4" Type="http://schemas.openxmlformats.org/officeDocument/2006/relationships/image" Target="../media/image3.svg"/></Relationships>
</file>

<file path=ppt/slides/_rels/slide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9.svg"/><Relationship Id="rId5" Type="http://schemas.openxmlformats.org/officeDocument/2006/relationships/image" Target="../media/image3.svg"/><Relationship Id="rId4" Type="http://schemas.openxmlformats.org/officeDocument/2006/relationships/image" Target="../media/image4.svg"/></Relationships>
</file>

<file path=ppt/slides/_rels/slide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3.svg"/></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11.svg"/><Relationship Id="rId5" Type="http://schemas.openxmlformats.org/officeDocument/2006/relationships/image" Target="../media/image3.svg"/><Relationship Id="rId4" Type="http://schemas.openxmlformats.org/officeDocument/2006/relationships/image" Target="../media/image4.svg"/></Relationships>
</file>

<file path=ppt/slides/_rels/slide1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12.jpeg"/><Relationship Id="rId4" Type="http://schemas.openxmlformats.org/officeDocument/2006/relationships/image" Target="../media/image3.svg"/></Relationships>
</file>

<file path=ppt/slides/_rels/slide1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5597" r="-15597"/>
            </a:stretch>
          </a:blipFill>
        </p:spPr>
        <p:txBody>
          <a:bodyPr/>
          <a:lstStyle/>
          <a:p>
            <a:endParaRPr lang="en-IN"/>
          </a:p>
        </p:txBody>
      </p:sp>
      <p:grpSp>
        <p:nvGrpSpPr>
          <p:cNvPr id="3" name="Group 3"/>
          <p:cNvGrpSpPr/>
          <p:nvPr/>
        </p:nvGrpSpPr>
        <p:grpSpPr>
          <a:xfrm>
            <a:off x="0" y="4580814"/>
            <a:ext cx="5902101" cy="7974702"/>
            <a:chOff x="0" y="0"/>
            <a:chExt cx="7869467" cy="10632936"/>
          </a:xfrm>
        </p:grpSpPr>
        <p:sp>
          <p:nvSpPr>
            <p:cNvPr id="4" name="Freeform 4"/>
            <p:cNvSpPr/>
            <p:nvPr/>
          </p:nvSpPr>
          <p:spPr>
            <a:xfrm>
              <a:off x="0" y="0"/>
              <a:ext cx="7869467" cy="7869467"/>
            </a:xfrm>
            <a:custGeom>
              <a:avLst/>
              <a:gdLst/>
              <a:ahLst/>
              <a:cxnLst/>
              <a:rect l="l" t="t" r="r" b="b"/>
              <a:pathLst>
                <a:path w="7869467" h="7869467">
                  <a:moveTo>
                    <a:pt x="0" y="0"/>
                  </a:moveTo>
                  <a:lnTo>
                    <a:pt x="7869467" y="0"/>
                  </a:lnTo>
                  <a:lnTo>
                    <a:pt x="7869467" y="7869467"/>
                  </a:lnTo>
                  <a:lnTo>
                    <a:pt x="0" y="7869467"/>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5" name="Freeform 5"/>
            <p:cNvSpPr/>
            <p:nvPr/>
          </p:nvSpPr>
          <p:spPr>
            <a:xfrm>
              <a:off x="313695" y="6497867"/>
              <a:ext cx="7555772" cy="4135068"/>
            </a:xfrm>
            <a:custGeom>
              <a:avLst/>
              <a:gdLst/>
              <a:ahLst/>
              <a:cxnLst/>
              <a:rect l="l" t="t" r="r" b="b"/>
              <a:pathLst>
                <a:path w="7555772" h="4135068">
                  <a:moveTo>
                    <a:pt x="0" y="0"/>
                  </a:moveTo>
                  <a:lnTo>
                    <a:pt x="7555772" y="0"/>
                  </a:lnTo>
                  <a:lnTo>
                    <a:pt x="7555772" y="4135069"/>
                  </a:lnTo>
                  <a:lnTo>
                    <a:pt x="0" y="413506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a:p>
          </p:txBody>
        </p:sp>
      </p:grpSp>
      <p:grpSp>
        <p:nvGrpSpPr>
          <p:cNvPr id="6" name="Group 6"/>
          <p:cNvGrpSpPr/>
          <p:nvPr/>
        </p:nvGrpSpPr>
        <p:grpSpPr>
          <a:xfrm rot="-10800000">
            <a:off x="12385899" y="-2268953"/>
            <a:ext cx="5902101" cy="7974702"/>
            <a:chOff x="0" y="0"/>
            <a:chExt cx="7869467" cy="10632936"/>
          </a:xfrm>
        </p:grpSpPr>
        <p:sp>
          <p:nvSpPr>
            <p:cNvPr id="7" name="Freeform 7"/>
            <p:cNvSpPr/>
            <p:nvPr/>
          </p:nvSpPr>
          <p:spPr>
            <a:xfrm>
              <a:off x="0" y="0"/>
              <a:ext cx="7869467" cy="7869467"/>
            </a:xfrm>
            <a:custGeom>
              <a:avLst/>
              <a:gdLst/>
              <a:ahLst/>
              <a:cxnLst/>
              <a:rect l="l" t="t" r="r" b="b"/>
              <a:pathLst>
                <a:path w="7869467" h="7869467">
                  <a:moveTo>
                    <a:pt x="0" y="0"/>
                  </a:moveTo>
                  <a:lnTo>
                    <a:pt x="7869467" y="0"/>
                  </a:lnTo>
                  <a:lnTo>
                    <a:pt x="7869467" y="7869467"/>
                  </a:lnTo>
                  <a:lnTo>
                    <a:pt x="0" y="7869467"/>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8" name="Freeform 8"/>
            <p:cNvSpPr/>
            <p:nvPr/>
          </p:nvSpPr>
          <p:spPr>
            <a:xfrm>
              <a:off x="313695" y="6497867"/>
              <a:ext cx="7555772" cy="4135068"/>
            </a:xfrm>
            <a:custGeom>
              <a:avLst/>
              <a:gdLst/>
              <a:ahLst/>
              <a:cxnLst/>
              <a:rect l="l" t="t" r="r" b="b"/>
              <a:pathLst>
                <a:path w="7555772" h="4135068">
                  <a:moveTo>
                    <a:pt x="0" y="0"/>
                  </a:moveTo>
                  <a:lnTo>
                    <a:pt x="7555772" y="0"/>
                  </a:lnTo>
                  <a:lnTo>
                    <a:pt x="7555772" y="4135069"/>
                  </a:lnTo>
                  <a:lnTo>
                    <a:pt x="0" y="413506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a:p>
          </p:txBody>
        </p:sp>
      </p:grpSp>
      <p:sp>
        <p:nvSpPr>
          <p:cNvPr id="9" name="Freeform 9"/>
          <p:cNvSpPr/>
          <p:nvPr/>
        </p:nvSpPr>
        <p:spPr>
          <a:xfrm>
            <a:off x="-2672315" y="-776716"/>
            <a:ext cx="4054948" cy="4114800"/>
          </a:xfrm>
          <a:custGeom>
            <a:avLst/>
            <a:gdLst/>
            <a:ahLst/>
            <a:cxnLst/>
            <a:rect l="l" t="t" r="r" b="b"/>
            <a:pathLst>
              <a:path w="4054948" h="4114800">
                <a:moveTo>
                  <a:pt x="0" y="0"/>
                </a:moveTo>
                <a:lnTo>
                  <a:pt x="4054948" y="0"/>
                </a:lnTo>
                <a:lnTo>
                  <a:pt x="4054948" y="4114800"/>
                </a:lnTo>
                <a:lnTo>
                  <a:pt x="0" y="411480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IN"/>
          </a:p>
        </p:txBody>
      </p:sp>
      <p:sp>
        <p:nvSpPr>
          <p:cNvPr id="10" name="Freeform 10"/>
          <p:cNvSpPr/>
          <p:nvPr/>
        </p:nvSpPr>
        <p:spPr>
          <a:xfrm flipH="1" flipV="1">
            <a:off x="16884370" y="7044598"/>
            <a:ext cx="4054948" cy="4114800"/>
          </a:xfrm>
          <a:custGeom>
            <a:avLst/>
            <a:gdLst/>
            <a:ahLst/>
            <a:cxnLst/>
            <a:rect l="l" t="t" r="r" b="b"/>
            <a:pathLst>
              <a:path w="4054948" h="4114800">
                <a:moveTo>
                  <a:pt x="4054949" y="4114800"/>
                </a:moveTo>
                <a:lnTo>
                  <a:pt x="0" y="4114800"/>
                </a:lnTo>
                <a:lnTo>
                  <a:pt x="0" y="0"/>
                </a:lnTo>
                <a:lnTo>
                  <a:pt x="4054949" y="0"/>
                </a:lnTo>
                <a:lnTo>
                  <a:pt x="4054949" y="411480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IN"/>
          </a:p>
        </p:txBody>
      </p:sp>
      <p:sp>
        <p:nvSpPr>
          <p:cNvPr id="11" name="TextBox 11"/>
          <p:cNvSpPr txBox="1"/>
          <p:nvPr/>
        </p:nvSpPr>
        <p:spPr>
          <a:xfrm>
            <a:off x="2347590" y="4504614"/>
            <a:ext cx="13592819" cy="638886"/>
          </a:xfrm>
          <a:prstGeom prst="rect">
            <a:avLst/>
          </a:prstGeom>
        </p:spPr>
        <p:txBody>
          <a:bodyPr lIns="0" tIns="0" rIns="0" bIns="0" rtlCol="0" anchor="t">
            <a:spAutoFit/>
          </a:bodyPr>
          <a:lstStyle/>
          <a:p>
            <a:pPr algn="l">
              <a:lnSpc>
                <a:spcPts val="5210"/>
              </a:lnSpc>
            </a:pPr>
            <a:r>
              <a:rPr lang="en-US" sz="3721">
                <a:solidFill>
                  <a:srgbClr val="0D1C38"/>
                </a:solidFill>
                <a:latin typeface="Roca One"/>
                <a:ea typeface="Roca One"/>
                <a:cs typeface="Roca One"/>
                <a:sym typeface="Roca One"/>
              </a:rPr>
              <a:t>A MACHINE LEARNING BASED HR ANALYTICS SYSTEM</a:t>
            </a:r>
          </a:p>
        </p:txBody>
      </p:sp>
      <p:sp>
        <p:nvSpPr>
          <p:cNvPr id="12" name="TextBox 12"/>
          <p:cNvSpPr txBox="1"/>
          <p:nvPr/>
        </p:nvSpPr>
        <p:spPr>
          <a:xfrm>
            <a:off x="2715779" y="3233309"/>
            <a:ext cx="12202251" cy="1235858"/>
          </a:xfrm>
          <a:prstGeom prst="rect">
            <a:avLst/>
          </a:prstGeom>
        </p:spPr>
        <p:txBody>
          <a:bodyPr lIns="0" tIns="0" rIns="0" bIns="0" rtlCol="0" anchor="t">
            <a:spAutoFit/>
          </a:bodyPr>
          <a:lstStyle/>
          <a:p>
            <a:pPr algn="l">
              <a:lnSpc>
                <a:spcPts val="7166"/>
              </a:lnSpc>
            </a:pPr>
            <a:r>
              <a:rPr lang="en-US" sz="5119" b="1">
                <a:solidFill>
                  <a:srgbClr val="0D1C38"/>
                </a:solidFill>
                <a:latin typeface="Roca One Bold"/>
                <a:ea typeface="Roca One Bold"/>
                <a:cs typeface="Roca One Bold"/>
                <a:sym typeface="Roca One Bold"/>
              </a:rPr>
              <a:t>EMPLOYEE RETENTION PREDICTOR</a:t>
            </a:r>
          </a:p>
          <a:p>
            <a:pPr algn="l">
              <a:lnSpc>
                <a:spcPts val="2546"/>
              </a:lnSpc>
            </a:pPr>
            <a:endParaRPr lang="en-US" sz="5119" b="1">
              <a:solidFill>
                <a:srgbClr val="0D1C38"/>
              </a:solidFill>
              <a:latin typeface="Roca One Bold"/>
              <a:ea typeface="Roca One Bold"/>
              <a:cs typeface="Roca One Bold"/>
              <a:sym typeface="Roca One Bold"/>
            </a:endParaRPr>
          </a:p>
        </p:txBody>
      </p:sp>
      <p:sp>
        <p:nvSpPr>
          <p:cNvPr id="13" name="TextBox 13"/>
          <p:cNvSpPr txBox="1"/>
          <p:nvPr/>
        </p:nvSpPr>
        <p:spPr>
          <a:xfrm>
            <a:off x="8527456" y="7516540"/>
            <a:ext cx="8356914" cy="2423740"/>
          </a:xfrm>
          <a:prstGeom prst="rect">
            <a:avLst/>
          </a:prstGeom>
        </p:spPr>
        <p:txBody>
          <a:bodyPr wrap="square" lIns="0" tIns="0" rIns="0" bIns="0" rtlCol="0" anchor="t">
            <a:spAutoFit/>
          </a:bodyPr>
          <a:lstStyle/>
          <a:p>
            <a:pPr algn="ctr">
              <a:lnSpc>
                <a:spcPts val="3810"/>
              </a:lnSpc>
            </a:pPr>
            <a:r>
              <a:rPr lang="en-US" sz="2722" dirty="0">
                <a:solidFill>
                  <a:srgbClr val="0D1C38"/>
                </a:solidFill>
                <a:latin typeface="Roca One"/>
                <a:ea typeface="Roca One"/>
                <a:cs typeface="Roca One"/>
                <a:sym typeface="Roca One"/>
              </a:rPr>
              <a:t>PRESENTED BY :BhuvanESHWARI . C</a:t>
            </a:r>
          </a:p>
          <a:p>
            <a:pPr algn="ctr">
              <a:lnSpc>
                <a:spcPts val="3670"/>
              </a:lnSpc>
            </a:pPr>
            <a:r>
              <a:rPr lang="en-US" sz="2622" dirty="0">
                <a:solidFill>
                  <a:srgbClr val="0D1C38"/>
                </a:solidFill>
                <a:latin typeface="Roca One"/>
                <a:ea typeface="Roca One"/>
                <a:cs typeface="Roca One"/>
                <a:sym typeface="Roca One"/>
              </a:rPr>
              <a:t>BACHELOR OF COMPUTER APPLICATIONS (BCA)</a:t>
            </a:r>
          </a:p>
          <a:p>
            <a:pPr algn="ctr">
              <a:lnSpc>
                <a:spcPts val="3950"/>
              </a:lnSpc>
            </a:pPr>
            <a:r>
              <a:rPr lang="en-US" sz="2822" dirty="0">
                <a:solidFill>
                  <a:srgbClr val="0D1C38"/>
                </a:solidFill>
                <a:latin typeface="Roca One"/>
                <a:ea typeface="Roca One"/>
                <a:cs typeface="Roca One"/>
                <a:sym typeface="Roca One"/>
              </a:rPr>
              <a:t>ROLL NO: BAI248022</a:t>
            </a:r>
          </a:p>
          <a:p>
            <a:pPr algn="ctr">
              <a:lnSpc>
                <a:spcPts val="3670"/>
              </a:lnSpc>
            </a:pPr>
            <a:r>
              <a:rPr lang="en-US" sz="2622" dirty="0">
                <a:solidFill>
                  <a:srgbClr val="0D1C38"/>
                </a:solidFill>
                <a:latin typeface="Roca One"/>
                <a:ea typeface="Roca One"/>
                <a:cs typeface="Roca One"/>
                <a:sym typeface="Roca One"/>
              </a:rPr>
              <a:t>V SEMESTER – INTERNSHIP PROJECT</a:t>
            </a:r>
          </a:p>
          <a:p>
            <a:pPr algn="ctr">
              <a:lnSpc>
                <a:spcPts val="3670"/>
              </a:lnSpc>
              <a:spcBef>
                <a:spcPct val="0"/>
              </a:spcBef>
            </a:pPr>
            <a:r>
              <a:rPr lang="en-US" sz="2622" dirty="0">
                <a:solidFill>
                  <a:srgbClr val="0D1C38"/>
                </a:solidFill>
                <a:latin typeface="Roca One"/>
                <a:ea typeface="Roca One"/>
                <a:cs typeface="Roca One"/>
                <a:sym typeface="Roca One"/>
              </a:rPr>
              <a:t>T. JOHN COLLEGE, BENGALURU</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2"/>
            <a:stretch>
              <a:fillRect l="-15597" r="-15597"/>
            </a:stretch>
          </a:blipFill>
        </p:spPr>
        <p:txBody>
          <a:bodyPr/>
          <a:lstStyle/>
          <a:p>
            <a:endParaRPr lang="en-IN"/>
          </a:p>
        </p:txBody>
      </p:sp>
      <p:grpSp>
        <p:nvGrpSpPr>
          <p:cNvPr id="3" name="Group 3"/>
          <p:cNvGrpSpPr/>
          <p:nvPr/>
        </p:nvGrpSpPr>
        <p:grpSpPr>
          <a:xfrm>
            <a:off x="1030186" y="647465"/>
            <a:ext cx="16229114" cy="8229600"/>
            <a:chOff x="0" y="0"/>
            <a:chExt cx="4274335" cy="2167467"/>
          </a:xfrm>
        </p:grpSpPr>
        <p:sp>
          <p:nvSpPr>
            <p:cNvPr id="4" name="Freeform 4"/>
            <p:cNvSpPr/>
            <p:nvPr/>
          </p:nvSpPr>
          <p:spPr>
            <a:xfrm>
              <a:off x="0" y="0"/>
              <a:ext cx="4274334" cy="2167467"/>
            </a:xfrm>
            <a:custGeom>
              <a:avLst/>
              <a:gdLst/>
              <a:ahLst/>
              <a:cxnLst/>
              <a:rect l="l" t="t" r="r" b="b"/>
              <a:pathLst>
                <a:path w="4274334" h="2167467">
                  <a:moveTo>
                    <a:pt x="0" y="0"/>
                  </a:moveTo>
                  <a:lnTo>
                    <a:pt x="4274334" y="0"/>
                  </a:lnTo>
                  <a:lnTo>
                    <a:pt x="4274334" y="2167467"/>
                  </a:lnTo>
                  <a:lnTo>
                    <a:pt x="0" y="2167467"/>
                  </a:lnTo>
                  <a:close/>
                </a:path>
              </a:pathLst>
            </a:custGeom>
            <a:solidFill>
              <a:srgbClr val="FEFEFE"/>
            </a:solidFill>
          </p:spPr>
          <p:txBody>
            <a:bodyPr/>
            <a:lstStyle/>
            <a:p>
              <a:endParaRPr lang="en-IN"/>
            </a:p>
          </p:txBody>
        </p:sp>
        <p:sp>
          <p:nvSpPr>
            <p:cNvPr id="5" name="TextBox 5"/>
            <p:cNvSpPr txBox="1"/>
            <p:nvPr/>
          </p:nvSpPr>
          <p:spPr>
            <a:xfrm>
              <a:off x="0" y="57150"/>
              <a:ext cx="4274335" cy="2110317"/>
            </a:xfrm>
            <a:prstGeom prst="rect">
              <a:avLst/>
            </a:prstGeom>
          </p:spPr>
          <p:txBody>
            <a:bodyPr lIns="50800" tIns="50800" rIns="50800" bIns="50800" rtlCol="0" anchor="ctr"/>
            <a:lstStyle/>
            <a:p>
              <a:pPr algn="ctr">
                <a:lnSpc>
                  <a:spcPts val="2481"/>
                </a:lnSpc>
              </a:pPr>
              <a:endParaRPr/>
            </a:p>
          </p:txBody>
        </p:sp>
      </p:grpSp>
      <p:grpSp>
        <p:nvGrpSpPr>
          <p:cNvPr id="6" name="Group 6"/>
          <p:cNvGrpSpPr/>
          <p:nvPr/>
        </p:nvGrpSpPr>
        <p:grpSpPr>
          <a:xfrm>
            <a:off x="3847750" y="3407091"/>
            <a:ext cx="792734" cy="629681"/>
            <a:chOff x="0" y="0"/>
            <a:chExt cx="208786" cy="165842"/>
          </a:xfrm>
        </p:grpSpPr>
        <p:sp>
          <p:nvSpPr>
            <p:cNvPr id="7" name="Freeform 7"/>
            <p:cNvSpPr/>
            <p:nvPr/>
          </p:nvSpPr>
          <p:spPr>
            <a:xfrm>
              <a:off x="0" y="0"/>
              <a:ext cx="208786" cy="165842"/>
            </a:xfrm>
            <a:custGeom>
              <a:avLst/>
              <a:gdLst/>
              <a:ahLst/>
              <a:cxnLst/>
              <a:rect l="l" t="t" r="r" b="b"/>
              <a:pathLst>
                <a:path w="208786" h="165842">
                  <a:moveTo>
                    <a:pt x="0" y="0"/>
                  </a:moveTo>
                  <a:lnTo>
                    <a:pt x="208786" y="0"/>
                  </a:lnTo>
                  <a:lnTo>
                    <a:pt x="208786" y="165842"/>
                  </a:lnTo>
                  <a:lnTo>
                    <a:pt x="0" y="165842"/>
                  </a:lnTo>
                  <a:close/>
                </a:path>
              </a:pathLst>
            </a:custGeom>
            <a:solidFill>
              <a:srgbClr val="78A6CB">
                <a:alpha val="33725"/>
              </a:srgbClr>
            </a:solidFill>
          </p:spPr>
          <p:txBody>
            <a:bodyPr/>
            <a:lstStyle/>
            <a:p>
              <a:endParaRPr lang="en-IN"/>
            </a:p>
          </p:txBody>
        </p:sp>
        <p:sp>
          <p:nvSpPr>
            <p:cNvPr id="8" name="TextBox 8"/>
            <p:cNvSpPr txBox="1"/>
            <p:nvPr/>
          </p:nvSpPr>
          <p:spPr>
            <a:xfrm>
              <a:off x="0" y="57150"/>
              <a:ext cx="208786" cy="108692"/>
            </a:xfrm>
            <a:prstGeom prst="rect">
              <a:avLst/>
            </a:prstGeom>
          </p:spPr>
          <p:txBody>
            <a:bodyPr lIns="50800" tIns="50800" rIns="50800" bIns="50800" rtlCol="0" anchor="ctr"/>
            <a:lstStyle/>
            <a:p>
              <a:pPr algn="ctr">
                <a:lnSpc>
                  <a:spcPts val="2481"/>
                </a:lnSpc>
              </a:pPr>
              <a:endParaRPr/>
            </a:p>
          </p:txBody>
        </p:sp>
      </p:grpSp>
      <p:grpSp>
        <p:nvGrpSpPr>
          <p:cNvPr id="9" name="Group 9"/>
          <p:cNvGrpSpPr/>
          <p:nvPr/>
        </p:nvGrpSpPr>
        <p:grpSpPr>
          <a:xfrm>
            <a:off x="3772664" y="4558773"/>
            <a:ext cx="792734" cy="629681"/>
            <a:chOff x="0" y="0"/>
            <a:chExt cx="208786" cy="165842"/>
          </a:xfrm>
        </p:grpSpPr>
        <p:sp>
          <p:nvSpPr>
            <p:cNvPr id="10" name="Freeform 10"/>
            <p:cNvSpPr/>
            <p:nvPr/>
          </p:nvSpPr>
          <p:spPr>
            <a:xfrm>
              <a:off x="0" y="0"/>
              <a:ext cx="208786" cy="165842"/>
            </a:xfrm>
            <a:custGeom>
              <a:avLst/>
              <a:gdLst/>
              <a:ahLst/>
              <a:cxnLst/>
              <a:rect l="l" t="t" r="r" b="b"/>
              <a:pathLst>
                <a:path w="208786" h="165842">
                  <a:moveTo>
                    <a:pt x="0" y="0"/>
                  </a:moveTo>
                  <a:lnTo>
                    <a:pt x="208786" y="0"/>
                  </a:lnTo>
                  <a:lnTo>
                    <a:pt x="208786" y="165842"/>
                  </a:lnTo>
                  <a:lnTo>
                    <a:pt x="0" y="165842"/>
                  </a:lnTo>
                  <a:close/>
                </a:path>
              </a:pathLst>
            </a:custGeom>
            <a:solidFill>
              <a:srgbClr val="78A6CB">
                <a:alpha val="33725"/>
              </a:srgbClr>
            </a:solidFill>
          </p:spPr>
          <p:txBody>
            <a:bodyPr/>
            <a:lstStyle/>
            <a:p>
              <a:endParaRPr lang="en-IN"/>
            </a:p>
          </p:txBody>
        </p:sp>
        <p:sp>
          <p:nvSpPr>
            <p:cNvPr id="11" name="TextBox 11"/>
            <p:cNvSpPr txBox="1"/>
            <p:nvPr/>
          </p:nvSpPr>
          <p:spPr>
            <a:xfrm>
              <a:off x="0" y="57150"/>
              <a:ext cx="208786" cy="108692"/>
            </a:xfrm>
            <a:prstGeom prst="rect">
              <a:avLst/>
            </a:prstGeom>
          </p:spPr>
          <p:txBody>
            <a:bodyPr lIns="50800" tIns="50800" rIns="50800" bIns="50800" rtlCol="0" anchor="ctr"/>
            <a:lstStyle/>
            <a:p>
              <a:pPr algn="ctr">
                <a:lnSpc>
                  <a:spcPts val="2481"/>
                </a:lnSpc>
              </a:pPr>
              <a:endParaRPr/>
            </a:p>
          </p:txBody>
        </p:sp>
      </p:grpSp>
      <p:grpSp>
        <p:nvGrpSpPr>
          <p:cNvPr id="12" name="Group 12"/>
          <p:cNvGrpSpPr/>
          <p:nvPr/>
        </p:nvGrpSpPr>
        <p:grpSpPr>
          <a:xfrm>
            <a:off x="3847750" y="5582698"/>
            <a:ext cx="792734" cy="629681"/>
            <a:chOff x="0" y="0"/>
            <a:chExt cx="208786" cy="165842"/>
          </a:xfrm>
        </p:grpSpPr>
        <p:sp>
          <p:nvSpPr>
            <p:cNvPr id="13" name="Freeform 13"/>
            <p:cNvSpPr/>
            <p:nvPr/>
          </p:nvSpPr>
          <p:spPr>
            <a:xfrm>
              <a:off x="0" y="0"/>
              <a:ext cx="208786" cy="165842"/>
            </a:xfrm>
            <a:custGeom>
              <a:avLst/>
              <a:gdLst/>
              <a:ahLst/>
              <a:cxnLst/>
              <a:rect l="l" t="t" r="r" b="b"/>
              <a:pathLst>
                <a:path w="208786" h="165842">
                  <a:moveTo>
                    <a:pt x="0" y="0"/>
                  </a:moveTo>
                  <a:lnTo>
                    <a:pt x="208786" y="0"/>
                  </a:lnTo>
                  <a:lnTo>
                    <a:pt x="208786" y="165842"/>
                  </a:lnTo>
                  <a:lnTo>
                    <a:pt x="0" y="165842"/>
                  </a:lnTo>
                  <a:close/>
                </a:path>
              </a:pathLst>
            </a:custGeom>
            <a:solidFill>
              <a:srgbClr val="78A6CB">
                <a:alpha val="33725"/>
              </a:srgbClr>
            </a:solidFill>
          </p:spPr>
          <p:txBody>
            <a:bodyPr/>
            <a:lstStyle/>
            <a:p>
              <a:endParaRPr lang="en-IN"/>
            </a:p>
          </p:txBody>
        </p:sp>
        <p:sp>
          <p:nvSpPr>
            <p:cNvPr id="14" name="TextBox 14"/>
            <p:cNvSpPr txBox="1"/>
            <p:nvPr/>
          </p:nvSpPr>
          <p:spPr>
            <a:xfrm>
              <a:off x="0" y="57150"/>
              <a:ext cx="208786" cy="108692"/>
            </a:xfrm>
            <a:prstGeom prst="rect">
              <a:avLst/>
            </a:prstGeom>
          </p:spPr>
          <p:txBody>
            <a:bodyPr lIns="50800" tIns="50800" rIns="50800" bIns="50800" rtlCol="0" anchor="ctr"/>
            <a:lstStyle/>
            <a:p>
              <a:pPr algn="ctr">
                <a:lnSpc>
                  <a:spcPts val="2481"/>
                </a:lnSpc>
              </a:pPr>
              <a:endParaRPr/>
            </a:p>
          </p:txBody>
        </p:sp>
      </p:grpSp>
      <p:grpSp>
        <p:nvGrpSpPr>
          <p:cNvPr id="15" name="Group 15"/>
          <p:cNvGrpSpPr/>
          <p:nvPr/>
        </p:nvGrpSpPr>
        <p:grpSpPr>
          <a:xfrm>
            <a:off x="9920105" y="3452442"/>
            <a:ext cx="792734" cy="629681"/>
            <a:chOff x="0" y="0"/>
            <a:chExt cx="208786" cy="165842"/>
          </a:xfrm>
        </p:grpSpPr>
        <p:sp>
          <p:nvSpPr>
            <p:cNvPr id="16" name="Freeform 16"/>
            <p:cNvSpPr/>
            <p:nvPr/>
          </p:nvSpPr>
          <p:spPr>
            <a:xfrm>
              <a:off x="0" y="0"/>
              <a:ext cx="208786" cy="165842"/>
            </a:xfrm>
            <a:custGeom>
              <a:avLst/>
              <a:gdLst/>
              <a:ahLst/>
              <a:cxnLst/>
              <a:rect l="l" t="t" r="r" b="b"/>
              <a:pathLst>
                <a:path w="208786" h="165842">
                  <a:moveTo>
                    <a:pt x="0" y="0"/>
                  </a:moveTo>
                  <a:lnTo>
                    <a:pt x="208786" y="0"/>
                  </a:lnTo>
                  <a:lnTo>
                    <a:pt x="208786" y="165842"/>
                  </a:lnTo>
                  <a:lnTo>
                    <a:pt x="0" y="165842"/>
                  </a:lnTo>
                  <a:close/>
                </a:path>
              </a:pathLst>
            </a:custGeom>
            <a:solidFill>
              <a:srgbClr val="78A6CB">
                <a:alpha val="33725"/>
              </a:srgbClr>
            </a:solidFill>
          </p:spPr>
          <p:txBody>
            <a:bodyPr/>
            <a:lstStyle/>
            <a:p>
              <a:endParaRPr lang="en-IN"/>
            </a:p>
          </p:txBody>
        </p:sp>
        <p:sp>
          <p:nvSpPr>
            <p:cNvPr id="17" name="TextBox 17"/>
            <p:cNvSpPr txBox="1"/>
            <p:nvPr/>
          </p:nvSpPr>
          <p:spPr>
            <a:xfrm>
              <a:off x="0" y="57150"/>
              <a:ext cx="208786" cy="108692"/>
            </a:xfrm>
            <a:prstGeom prst="rect">
              <a:avLst/>
            </a:prstGeom>
          </p:spPr>
          <p:txBody>
            <a:bodyPr lIns="50800" tIns="50800" rIns="50800" bIns="50800" rtlCol="0" anchor="ctr"/>
            <a:lstStyle/>
            <a:p>
              <a:pPr algn="ctr">
                <a:lnSpc>
                  <a:spcPts val="2481"/>
                </a:lnSpc>
              </a:pPr>
              <a:endParaRPr/>
            </a:p>
          </p:txBody>
        </p:sp>
      </p:grpSp>
      <p:grpSp>
        <p:nvGrpSpPr>
          <p:cNvPr id="18" name="Group 18"/>
          <p:cNvGrpSpPr/>
          <p:nvPr/>
        </p:nvGrpSpPr>
        <p:grpSpPr>
          <a:xfrm>
            <a:off x="9965222" y="4341914"/>
            <a:ext cx="792734" cy="781601"/>
            <a:chOff x="0" y="0"/>
            <a:chExt cx="208786" cy="205854"/>
          </a:xfrm>
        </p:grpSpPr>
        <p:sp>
          <p:nvSpPr>
            <p:cNvPr id="19" name="Freeform 19"/>
            <p:cNvSpPr/>
            <p:nvPr/>
          </p:nvSpPr>
          <p:spPr>
            <a:xfrm>
              <a:off x="0" y="0"/>
              <a:ext cx="208786" cy="205854"/>
            </a:xfrm>
            <a:custGeom>
              <a:avLst/>
              <a:gdLst/>
              <a:ahLst/>
              <a:cxnLst/>
              <a:rect l="l" t="t" r="r" b="b"/>
              <a:pathLst>
                <a:path w="208786" h="205854">
                  <a:moveTo>
                    <a:pt x="0" y="0"/>
                  </a:moveTo>
                  <a:lnTo>
                    <a:pt x="208786" y="0"/>
                  </a:lnTo>
                  <a:lnTo>
                    <a:pt x="208786" y="205854"/>
                  </a:lnTo>
                  <a:lnTo>
                    <a:pt x="0" y="205854"/>
                  </a:lnTo>
                  <a:close/>
                </a:path>
              </a:pathLst>
            </a:custGeom>
            <a:solidFill>
              <a:srgbClr val="78A6CB">
                <a:alpha val="33725"/>
              </a:srgbClr>
            </a:solidFill>
          </p:spPr>
          <p:txBody>
            <a:bodyPr/>
            <a:lstStyle/>
            <a:p>
              <a:endParaRPr lang="en-IN"/>
            </a:p>
          </p:txBody>
        </p:sp>
        <p:sp>
          <p:nvSpPr>
            <p:cNvPr id="20" name="TextBox 20"/>
            <p:cNvSpPr txBox="1"/>
            <p:nvPr/>
          </p:nvSpPr>
          <p:spPr>
            <a:xfrm>
              <a:off x="0" y="57150"/>
              <a:ext cx="208786" cy="148704"/>
            </a:xfrm>
            <a:prstGeom prst="rect">
              <a:avLst/>
            </a:prstGeom>
          </p:spPr>
          <p:txBody>
            <a:bodyPr lIns="50800" tIns="50800" rIns="50800" bIns="50800" rtlCol="0" anchor="ctr"/>
            <a:lstStyle/>
            <a:p>
              <a:pPr algn="ctr">
                <a:lnSpc>
                  <a:spcPts val="2481"/>
                </a:lnSpc>
              </a:pPr>
              <a:endParaRPr/>
            </a:p>
          </p:txBody>
        </p:sp>
      </p:grpSp>
      <p:grpSp>
        <p:nvGrpSpPr>
          <p:cNvPr id="21" name="Group 21"/>
          <p:cNvGrpSpPr/>
          <p:nvPr/>
        </p:nvGrpSpPr>
        <p:grpSpPr>
          <a:xfrm>
            <a:off x="9965222" y="5689757"/>
            <a:ext cx="792734" cy="629681"/>
            <a:chOff x="0" y="0"/>
            <a:chExt cx="208786" cy="165842"/>
          </a:xfrm>
        </p:grpSpPr>
        <p:sp>
          <p:nvSpPr>
            <p:cNvPr id="22" name="Freeform 22"/>
            <p:cNvSpPr/>
            <p:nvPr/>
          </p:nvSpPr>
          <p:spPr>
            <a:xfrm>
              <a:off x="0" y="0"/>
              <a:ext cx="208786" cy="165842"/>
            </a:xfrm>
            <a:custGeom>
              <a:avLst/>
              <a:gdLst/>
              <a:ahLst/>
              <a:cxnLst/>
              <a:rect l="l" t="t" r="r" b="b"/>
              <a:pathLst>
                <a:path w="208786" h="165842">
                  <a:moveTo>
                    <a:pt x="0" y="0"/>
                  </a:moveTo>
                  <a:lnTo>
                    <a:pt x="208786" y="0"/>
                  </a:lnTo>
                  <a:lnTo>
                    <a:pt x="208786" y="165842"/>
                  </a:lnTo>
                  <a:lnTo>
                    <a:pt x="0" y="165842"/>
                  </a:lnTo>
                  <a:close/>
                </a:path>
              </a:pathLst>
            </a:custGeom>
            <a:solidFill>
              <a:srgbClr val="78A6CB">
                <a:alpha val="33725"/>
              </a:srgbClr>
            </a:solidFill>
          </p:spPr>
          <p:txBody>
            <a:bodyPr/>
            <a:lstStyle/>
            <a:p>
              <a:endParaRPr lang="en-IN"/>
            </a:p>
          </p:txBody>
        </p:sp>
        <p:sp>
          <p:nvSpPr>
            <p:cNvPr id="23" name="TextBox 23"/>
            <p:cNvSpPr txBox="1"/>
            <p:nvPr/>
          </p:nvSpPr>
          <p:spPr>
            <a:xfrm>
              <a:off x="0" y="57150"/>
              <a:ext cx="208786" cy="108692"/>
            </a:xfrm>
            <a:prstGeom prst="rect">
              <a:avLst/>
            </a:prstGeom>
          </p:spPr>
          <p:txBody>
            <a:bodyPr lIns="50800" tIns="50800" rIns="50800" bIns="50800" rtlCol="0" anchor="ctr"/>
            <a:lstStyle/>
            <a:p>
              <a:pPr algn="ctr">
                <a:lnSpc>
                  <a:spcPts val="2481"/>
                </a:lnSpc>
              </a:pPr>
              <a:endParaRPr/>
            </a:p>
          </p:txBody>
        </p:sp>
      </p:grpSp>
      <p:grpSp>
        <p:nvGrpSpPr>
          <p:cNvPr id="24" name="Group 24"/>
          <p:cNvGrpSpPr/>
          <p:nvPr/>
        </p:nvGrpSpPr>
        <p:grpSpPr>
          <a:xfrm>
            <a:off x="10041355" y="6641005"/>
            <a:ext cx="792734" cy="629681"/>
            <a:chOff x="0" y="0"/>
            <a:chExt cx="208786" cy="165842"/>
          </a:xfrm>
        </p:grpSpPr>
        <p:sp>
          <p:nvSpPr>
            <p:cNvPr id="25" name="Freeform 25"/>
            <p:cNvSpPr/>
            <p:nvPr/>
          </p:nvSpPr>
          <p:spPr>
            <a:xfrm>
              <a:off x="0" y="0"/>
              <a:ext cx="208786" cy="165842"/>
            </a:xfrm>
            <a:custGeom>
              <a:avLst/>
              <a:gdLst/>
              <a:ahLst/>
              <a:cxnLst/>
              <a:rect l="l" t="t" r="r" b="b"/>
              <a:pathLst>
                <a:path w="208786" h="165842">
                  <a:moveTo>
                    <a:pt x="0" y="0"/>
                  </a:moveTo>
                  <a:lnTo>
                    <a:pt x="208786" y="0"/>
                  </a:lnTo>
                  <a:lnTo>
                    <a:pt x="208786" y="165842"/>
                  </a:lnTo>
                  <a:lnTo>
                    <a:pt x="0" y="165842"/>
                  </a:lnTo>
                  <a:close/>
                </a:path>
              </a:pathLst>
            </a:custGeom>
            <a:solidFill>
              <a:srgbClr val="78A6CB">
                <a:alpha val="33725"/>
              </a:srgbClr>
            </a:solidFill>
          </p:spPr>
          <p:txBody>
            <a:bodyPr/>
            <a:lstStyle/>
            <a:p>
              <a:endParaRPr lang="en-IN"/>
            </a:p>
          </p:txBody>
        </p:sp>
        <p:sp>
          <p:nvSpPr>
            <p:cNvPr id="26" name="TextBox 26"/>
            <p:cNvSpPr txBox="1"/>
            <p:nvPr/>
          </p:nvSpPr>
          <p:spPr>
            <a:xfrm>
              <a:off x="0" y="57150"/>
              <a:ext cx="208786" cy="108692"/>
            </a:xfrm>
            <a:prstGeom prst="rect">
              <a:avLst/>
            </a:prstGeom>
          </p:spPr>
          <p:txBody>
            <a:bodyPr lIns="50800" tIns="50800" rIns="50800" bIns="50800" rtlCol="0" anchor="ctr"/>
            <a:lstStyle/>
            <a:p>
              <a:pPr algn="ctr">
                <a:lnSpc>
                  <a:spcPts val="2481"/>
                </a:lnSpc>
              </a:pPr>
              <a:endParaRPr/>
            </a:p>
          </p:txBody>
        </p:sp>
      </p:grpSp>
      <p:grpSp>
        <p:nvGrpSpPr>
          <p:cNvPr id="27" name="Group 27"/>
          <p:cNvGrpSpPr/>
          <p:nvPr/>
        </p:nvGrpSpPr>
        <p:grpSpPr>
          <a:xfrm>
            <a:off x="3847750" y="6735071"/>
            <a:ext cx="792734" cy="629615"/>
            <a:chOff x="0" y="0"/>
            <a:chExt cx="208786" cy="165825"/>
          </a:xfrm>
        </p:grpSpPr>
        <p:sp>
          <p:nvSpPr>
            <p:cNvPr id="28" name="Freeform 28"/>
            <p:cNvSpPr/>
            <p:nvPr/>
          </p:nvSpPr>
          <p:spPr>
            <a:xfrm>
              <a:off x="0" y="0"/>
              <a:ext cx="208786" cy="165825"/>
            </a:xfrm>
            <a:custGeom>
              <a:avLst/>
              <a:gdLst/>
              <a:ahLst/>
              <a:cxnLst/>
              <a:rect l="l" t="t" r="r" b="b"/>
              <a:pathLst>
                <a:path w="208786" h="165825">
                  <a:moveTo>
                    <a:pt x="0" y="0"/>
                  </a:moveTo>
                  <a:lnTo>
                    <a:pt x="208786" y="0"/>
                  </a:lnTo>
                  <a:lnTo>
                    <a:pt x="208786" y="165825"/>
                  </a:lnTo>
                  <a:lnTo>
                    <a:pt x="0" y="165825"/>
                  </a:lnTo>
                  <a:close/>
                </a:path>
              </a:pathLst>
            </a:custGeom>
            <a:solidFill>
              <a:srgbClr val="78A6CB">
                <a:alpha val="33725"/>
              </a:srgbClr>
            </a:solidFill>
          </p:spPr>
          <p:txBody>
            <a:bodyPr/>
            <a:lstStyle/>
            <a:p>
              <a:endParaRPr lang="en-IN"/>
            </a:p>
          </p:txBody>
        </p:sp>
        <p:sp>
          <p:nvSpPr>
            <p:cNvPr id="29" name="TextBox 29"/>
            <p:cNvSpPr txBox="1"/>
            <p:nvPr/>
          </p:nvSpPr>
          <p:spPr>
            <a:xfrm>
              <a:off x="0" y="57150"/>
              <a:ext cx="208786" cy="108675"/>
            </a:xfrm>
            <a:prstGeom prst="rect">
              <a:avLst/>
            </a:prstGeom>
          </p:spPr>
          <p:txBody>
            <a:bodyPr lIns="50800" tIns="50800" rIns="50800" bIns="50800" rtlCol="0" anchor="ctr"/>
            <a:lstStyle/>
            <a:p>
              <a:pPr algn="ctr">
                <a:lnSpc>
                  <a:spcPts val="2481"/>
                </a:lnSpc>
              </a:pPr>
              <a:endParaRPr/>
            </a:p>
          </p:txBody>
        </p:sp>
      </p:grpSp>
      <p:sp>
        <p:nvSpPr>
          <p:cNvPr id="30" name="Freeform 30"/>
          <p:cNvSpPr/>
          <p:nvPr/>
        </p:nvSpPr>
        <p:spPr>
          <a:xfrm flipH="1" flipV="1">
            <a:off x="16310046" y="-2312817"/>
            <a:ext cx="8623491" cy="8750775"/>
          </a:xfrm>
          <a:custGeom>
            <a:avLst/>
            <a:gdLst/>
            <a:ahLst/>
            <a:cxnLst/>
            <a:rect l="l" t="t" r="r" b="b"/>
            <a:pathLst>
              <a:path w="8623491" h="8750775">
                <a:moveTo>
                  <a:pt x="8623491" y="8750775"/>
                </a:moveTo>
                <a:lnTo>
                  <a:pt x="0" y="8750775"/>
                </a:lnTo>
                <a:lnTo>
                  <a:pt x="0" y="0"/>
                </a:lnTo>
                <a:lnTo>
                  <a:pt x="8623491" y="0"/>
                </a:lnTo>
                <a:lnTo>
                  <a:pt x="8623491" y="8750775"/>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1" name="Freeform 31"/>
          <p:cNvSpPr/>
          <p:nvPr/>
        </p:nvSpPr>
        <p:spPr>
          <a:xfrm>
            <a:off x="-6630940" y="3864288"/>
            <a:ext cx="8623491" cy="8750775"/>
          </a:xfrm>
          <a:custGeom>
            <a:avLst/>
            <a:gdLst/>
            <a:ahLst/>
            <a:cxnLst/>
            <a:rect l="l" t="t" r="r" b="b"/>
            <a:pathLst>
              <a:path w="8623491" h="8750775">
                <a:moveTo>
                  <a:pt x="0" y="0"/>
                </a:moveTo>
                <a:lnTo>
                  <a:pt x="8623491" y="0"/>
                </a:lnTo>
                <a:lnTo>
                  <a:pt x="8623491" y="8750775"/>
                </a:lnTo>
                <a:lnTo>
                  <a:pt x="0" y="8750775"/>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2" name="Freeform 32"/>
          <p:cNvSpPr/>
          <p:nvPr/>
        </p:nvSpPr>
        <p:spPr>
          <a:xfrm rot="-10800000">
            <a:off x="6125872" y="9311584"/>
            <a:ext cx="6036256" cy="3303478"/>
          </a:xfrm>
          <a:custGeom>
            <a:avLst/>
            <a:gdLst/>
            <a:ahLst/>
            <a:cxnLst/>
            <a:rect l="l" t="t" r="r" b="b"/>
            <a:pathLst>
              <a:path w="6036256" h="3303478">
                <a:moveTo>
                  <a:pt x="0" y="0"/>
                </a:moveTo>
                <a:lnTo>
                  <a:pt x="6036256" y="0"/>
                </a:lnTo>
                <a:lnTo>
                  <a:pt x="6036256" y="3303479"/>
                </a:lnTo>
                <a:lnTo>
                  <a:pt x="0" y="330347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a:p>
        </p:txBody>
      </p:sp>
      <p:sp>
        <p:nvSpPr>
          <p:cNvPr id="33" name="TextBox 33"/>
          <p:cNvSpPr txBox="1"/>
          <p:nvPr/>
        </p:nvSpPr>
        <p:spPr>
          <a:xfrm>
            <a:off x="11123475" y="6363877"/>
            <a:ext cx="2806712" cy="1494787"/>
          </a:xfrm>
          <a:prstGeom prst="rect">
            <a:avLst/>
          </a:prstGeom>
        </p:spPr>
        <p:txBody>
          <a:bodyPr lIns="0" tIns="0" rIns="0" bIns="0" rtlCol="0" anchor="t">
            <a:spAutoFit/>
          </a:bodyPr>
          <a:lstStyle/>
          <a:p>
            <a:pPr algn="l">
              <a:lnSpc>
                <a:spcPts val="6200"/>
              </a:lnSpc>
            </a:pPr>
            <a:r>
              <a:rPr lang="en-US" sz="3100" spc="155">
                <a:solidFill>
                  <a:srgbClr val="0D1C38"/>
                </a:solidFill>
                <a:latin typeface="Assistant"/>
                <a:ea typeface="Assistant"/>
                <a:cs typeface="Assistant"/>
                <a:sym typeface="Assistant"/>
              </a:rPr>
              <a:t>Result and Benefits.</a:t>
            </a:r>
          </a:p>
        </p:txBody>
      </p:sp>
      <p:sp>
        <p:nvSpPr>
          <p:cNvPr id="34" name="TextBox 34"/>
          <p:cNvSpPr txBox="1"/>
          <p:nvPr/>
        </p:nvSpPr>
        <p:spPr>
          <a:xfrm>
            <a:off x="10194817" y="6465594"/>
            <a:ext cx="485810" cy="899093"/>
          </a:xfrm>
          <a:prstGeom prst="rect">
            <a:avLst/>
          </a:prstGeom>
        </p:spPr>
        <p:txBody>
          <a:bodyPr lIns="0" tIns="0" rIns="0" bIns="0" rtlCol="0" anchor="t">
            <a:spAutoFit/>
          </a:bodyPr>
          <a:lstStyle/>
          <a:p>
            <a:pPr algn="ctr">
              <a:lnSpc>
                <a:spcPts val="7800"/>
              </a:lnSpc>
            </a:pPr>
            <a:r>
              <a:rPr lang="en-US" sz="3900" b="1" spc="195">
                <a:solidFill>
                  <a:srgbClr val="0D1C38"/>
                </a:solidFill>
                <a:latin typeface="Assistant Bold"/>
                <a:ea typeface="Assistant Bold"/>
                <a:cs typeface="Assistant Bold"/>
                <a:sym typeface="Assistant Bold"/>
              </a:rPr>
              <a:t>8.</a:t>
            </a:r>
          </a:p>
        </p:txBody>
      </p:sp>
      <p:sp>
        <p:nvSpPr>
          <p:cNvPr id="35" name="TextBox 35"/>
          <p:cNvSpPr txBox="1"/>
          <p:nvPr/>
        </p:nvSpPr>
        <p:spPr>
          <a:xfrm>
            <a:off x="4973208" y="6235176"/>
            <a:ext cx="3952824" cy="1400807"/>
          </a:xfrm>
          <a:prstGeom prst="rect">
            <a:avLst/>
          </a:prstGeom>
        </p:spPr>
        <p:txBody>
          <a:bodyPr lIns="0" tIns="0" rIns="0" bIns="0" rtlCol="0" anchor="t">
            <a:spAutoFit/>
          </a:bodyPr>
          <a:lstStyle/>
          <a:p>
            <a:pPr algn="l">
              <a:lnSpc>
                <a:spcPts val="5800"/>
              </a:lnSpc>
            </a:pPr>
            <a:r>
              <a:rPr lang="en-US" sz="2900" spc="145">
                <a:solidFill>
                  <a:srgbClr val="0D1C38"/>
                </a:solidFill>
                <a:latin typeface="Assistant"/>
                <a:ea typeface="Assistant"/>
                <a:cs typeface="Assistant"/>
                <a:sym typeface="Assistant"/>
              </a:rPr>
              <a:t>Existing vs Proposed System</a:t>
            </a:r>
          </a:p>
        </p:txBody>
      </p:sp>
      <p:sp>
        <p:nvSpPr>
          <p:cNvPr id="36" name="TextBox 36"/>
          <p:cNvSpPr txBox="1"/>
          <p:nvPr/>
        </p:nvSpPr>
        <p:spPr>
          <a:xfrm>
            <a:off x="4079588" y="6336205"/>
            <a:ext cx="485810" cy="899093"/>
          </a:xfrm>
          <a:prstGeom prst="rect">
            <a:avLst/>
          </a:prstGeom>
        </p:spPr>
        <p:txBody>
          <a:bodyPr lIns="0" tIns="0" rIns="0" bIns="0" rtlCol="0" anchor="t">
            <a:spAutoFit/>
          </a:bodyPr>
          <a:lstStyle/>
          <a:p>
            <a:pPr algn="ctr">
              <a:lnSpc>
                <a:spcPts val="7800"/>
              </a:lnSpc>
            </a:pPr>
            <a:r>
              <a:rPr lang="en-US" sz="3900" b="1" spc="195">
                <a:solidFill>
                  <a:srgbClr val="0D1C38"/>
                </a:solidFill>
                <a:latin typeface="Assistant Bold"/>
                <a:ea typeface="Assistant Bold"/>
                <a:cs typeface="Assistant Bold"/>
                <a:sym typeface="Assistant Bold"/>
              </a:rPr>
              <a:t>4.</a:t>
            </a:r>
          </a:p>
        </p:txBody>
      </p:sp>
      <p:sp>
        <p:nvSpPr>
          <p:cNvPr id="37" name="TextBox 37"/>
          <p:cNvSpPr txBox="1"/>
          <p:nvPr/>
        </p:nvSpPr>
        <p:spPr>
          <a:xfrm>
            <a:off x="11045520" y="5399151"/>
            <a:ext cx="3391484" cy="713737"/>
          </a:xfrm>
          <a:prstGeom prst="rect">
            <a:avLst/>
          </a:prstGeom>
        </p:spPr>
        <p:txBody>
          <a:bodyPr lIns="0" tIns="0" rIns="0" bIns="0" rtlCol="0" anchor="t">
            <a:spAutoFit/>
          </a:bodyPr>
          <a:lstStyle/>
          <a:p>
            <a:pPr algn="l">
              <a:lnSpc>
                <a:spcPts val="6200"/>
              </a:lnSpc>
            </a:pPr>
            <a:r>
              <a:rPr lang="en-US" sz="3100" spc="155">
                <a:solidFill>
                  <a:srgbClr val="0D1C38"/>
                </a:solidFill>
                <a:latin typeface="Assistant"/>
                <a:ea typeface="Assistant"/>
                <a:cs typeface="Assistant"/>
                <a:sym typeface="Assistant"/>
              </a:rPr>
              <a:t>System Workflow</a:t>
            </a:r>
          </a:p>
        </p:txBody>
      </p:sp>
      <p:sp>
        <p:nvSpPr>
          <p:cNvPr id="38" name="TextBox 38"/>
          <p:cNvSpPr txBox="1"/>
          <p:nvPr/>
        </p:nvSpPr>
        <p:spPr>
          <a:xfrm>
            <a:off x="10194817" y="5420345"/>
            <a:ext cx="485810" cy="899093"/>
          </a:xfrm>
          <a:prstGeom prst="rect">
            <a:avLst/>
          </a:prstGeom>
        </p:spPr>
        <p:txBody>
          <a:bodyPr lIns="0" tIns="0" rIns="0" bIns="0" rtlCol="0" anchor="t">
            <a:spAutoFit/>
          </a:bodyPr>
          <a:lstStyle/>
          <a:p>
            <a:pPr algn="ctr">
              <a:lnSpc>
                <a:spcPts val="7800"/>
              </a:lnSpc>
            </a:pPr>
            <a:r>
              <a:rPr lang="en-US" sz="3900" b="1" spc="195">
                <a:solidFill>
                  <a:srgbClr val="0D1C38"/>
                </a:solidFill>
                <a:latin typeface="Assistant Bold"/>
                <a:ea typeface="Assistant Bold"/>
                <a:cs typeface="Assistant Bold"/>
                <a:sym typeface="Assistant Bold"/>
              </a:rPr>
              <a:t>7.</a:t>
            </a:r>
          </a:p>
        </p:txBody>
      </p:sp>
      <p:sp>
        <p:nvSpPr>
          <p:cNvPr id="39" name="TextBox 39"/>
          <p:cNvSpPr txBox="1"/>
          <p:nvPr/>
        </p:nvSpPr>
        <p:spPr>
          <a:xfrm>
            <a:off x="4990732" y="5290860"/>
            <a:ext cx="2964715" cy="713737"/>
          </a:xfrm>
          <a:prstGeom prst="rect">
            <a:avLst/>
          </a:prstGeom>
        </p:spPr>
        <p:txBody>
          <a:bodyPr lIns="0" tIns="0" rIns="0" bIns="0" rtlCol="0" anchor="t">
            <a:spAutoFit/>
          </a:bodyPr>
          <a:lstStyle/>
          <a:p>
            <a:pPr algn="l">
              <a:lnSpc>
                <a:spcPts val="6200"/>
              </a:lnSpc>
            </a:pPr>
            <a:r>
              <a:rPr lang="en-US" sz="3100" spc="155">
                <a:solidFill>
                  <a:srgbClr val="0D1C38"/>
                </a:solidFill>
                <a:latin typeface="Assistant"/>
                <a:ea typeface="Assistant"/>
                <a:cs typeface="Assistant"/>
                <a:sym typeface="Assistant"/>
              </a:rPr>
              <a:t>Objectives</a:t>
            </a:r>
          </a:p>
        </p:txBody>
      </p:sp>
      <p:sp>
        <p:nvSpPr>
          <p:cNvPr id="40" name="TextBox 40"/>
          <p:cNvSpPr txBox="1"/>
          <p:nvPr/>
        </p:nvSpPr>
        <p:spPr>
          <a:xfrm>
            <a:off x="4001212" y="5277898"/>
            <a:ext cx="485810" cy="899093"/>
          </a:xfrm>
          <a:prstGeom prst="rect">
            <a:avLst/>
          </a:prstGeom>
        </p:spPr>
        <p:txBody>
          <a:bodyPr lIns="0" tIns="0" rIns="0" bIns="0" rtlCol="0" anchor="t">
            <a:spAutoFit/>
          </a:bodyPr>
          <a:lstStyle/>
          <a:p>
            <a:pPr algn="ctr">
              <a:lnSpc>
                <a:spcPts val="7800"/>
              </a:lnSpc>
            </a:pPr>
            <a:r>
              <a:rPr lang="en-US" sz="3900" b="1" spc="195">
                <a:solidFill>
                  <a:srgbClr val="0D1C38"/>
                </a:solidFill>
                <a:latin typeface="Assistant Bold"/>
                <a:ea typeface="Assistant Bold"/>
                <a:cs typeface="Assistant Bold"/>
                <a:sym typeface="Assistant Bold"/>
              </a:rPr>
              <a:t>3.</a:t>
            </a:r>
          </a:p>
        </p:txBody>
      </p:sp>
      <p:sp>
        <p:nvSpPr>
          <p:cNvPr id="41" name="TextBox 41"/>
          <p:cNvSpPr txBox="1"/>
          <p:nvPr/>
        </p:nvSpPr>
        <p:spPr>
          <a:xfrm>
            <a:off x="11120649" y="4252021"/>
            <a:ext cx="3241225" cy="713737"/>
          </a:xfrm>
          <a:prstGeom prst="rect">
            <a:avLst/>
          </a:prstGeom>
        </p:spPr>
        <p:txBody>
          <a:bodyPr lIns="0" tIns="0" rIns="0" bIns="0" rtlCol="0" anchor="t">
            <a:spAutoFit/>
          </a:bodyPr>
          <a:lstStyle/>
          <a:p>
            <a:pPr algn="l">
              <a:lnSpc>
                <a:spcPts val="6200"/>
              </a:lnSpc>
            </a:pPr>
            <a:r>
              <a:rPr lang="en-US" sz="3100" spc="155">
                <a:solidFill>
                  <a:srgbClr val="0D1C38"/>
                </a:solidFill>
                <a:latin typeface="Assistant"/>
                <a:ea typeface="Assistant"/>
                <a:cs typeface="Assistant"/>
                <a:sym typeface="Assistant"/>
              </a:rPr>
              <a:t>Dataset Overview</a:t>
            </a:r>
          </a:p>
        </p:txBody>
      </p:sp>
      <p:sp>
        <p:nvSpPr>
          <p:cNvPr id="42" name="TextBox 42"/>
          <p:cNvSpPr txBox="1"/>
          <p:nvPr/>
        </p:nvSpPr>
        <p:spPr>
          <a:xfrm>
            <a:off x="10194817" y="4253973"/>
            <a:ext cx="485810" cy="899093"/>
          </a:xfrm>
          <a:prstGeom prst="rect">
            <a:avLst/>
          </a:prstGeom>
        </p:spPr>
        <p:txBody>
          <a:bodyPr lIns="0" tIns="0" rIns="0" bIns="0" rtlCol="0" anchor="t">
            <a:spAutoFit/>
          </a:bodyPr>
          <a:lstStyle/>
          <a:p>
            <a:pPr algn="ctr">
              <a:lnSpc>
                <a:spcPts val="7800"/>
              </a:lnSpc>
            </a:pPr>
            <a:r>
              <a:rPr lang="en-US" sz="3900" b="1" spc="195">
                <a:solidFill>
                  <a:srgbClr val="0D1C38"/>
                </a:solidFill>
                <a:latin typeface="Assistant Bold"/>
                <a:ea typeface="Assistant Bold"/>
                <a:cs typeface="Assistant Bold"/>
                <a:sym typeface="Assistant Bold"/>
              </a:rPr>
              <a:t>6.</a:t>
            </a:r>
          </a:p>
        </p:txBody>
      </p:sp>
      <p:sp>
        <p:nvSpPr>
          <p:cNvPr id="43" name="TextBox 43"/>
          <p:cNvSpPr txBox="1"/>
          <p:nvPr/>
        </p:nvSpPr>
        <p:spPr>
          <a:xfrm>
            <a:off x="4973208" y="4271071"/>
            <a:ext cx="3660534" cy="667382"/>
          </a:xfrm>
          <a:prstGeom prst="rect">
            <a:avLst/>
          </a:prstGeom>
        </p:spPr>
        <p:txBody>
          <a:bodyPr lIns="0" tIns="0" rIns="0" bIns="0" rtlCol="0" anchor="t">
            <a:spAutoFit/>
          </a:bodyPr>
          <a:lstStyle/>
          <a:p>
            <a:pPr algn="l">
              <a:lnSpc>
                <a:spcPts val="5800"/>
              </a:lnSpc>
            </a:pPr>
            <a:r>
              <a:rPr lang="en-US" sz="2900" spc="145">
                <a:solidFill>
                  <a:srgbClr val="0D1C38"/>
                </a:solidFill>
                <a:latin typeface="Assistant"/>
                <a:ea typeface="Assistant"/>
                <a:cs typeface="Assistant"/>
                <a:sym typeface="Assistant"/>
              </a:rPr>
              <a:t>Problem Statement</a:t>
            </a:r>
          </a:p>
        </p:txBody>
      </p:sp>
      <p:sp>
        <p:nvSpPr>
          <p:cNvPr id="44" name="TextBox 44"/>
          <p:cNvSpPr txBox="1"/>
          <p:nvPr/>
        </p:nvSpPr>
        <p:spPr>
          <a:xfrm>
            <a:off x="4001212" y="4253973"/>
            <a:ext cx="485810" cy="899093"/>
          </a:xfrm>
          <a:prstGeom prst="rect">
            <a:avLst/>
          </a:prstGeom>
        </p:spPr>
        <p:txBody>
          <a:bodyPr lIns="0" tIns="0" rIns="0" bIns="0" rtlCol="0" anchor="t">
            <a:spAutoFit/>
          </a:bodyPr>
          <a:lstStyle/>
          <a:p>
            <a:pPr algn="ctr">
              <a:lnSpc>
                <a:spcPts val="7800"/>
              </a:lnSpc>
            </a:pPr>
            <a:r>
              <a:rPr lang="en-US" sz="3900" b="1" spc="195">
                <a:solidFill>
                  <a:srgbClr val="0D1C38"/>
                </a:solidFill>
                <a:latin typeface="Assistant Bold"/>
                <a:ea typeface="Assistant Bold"/>
                <a:cs typeface="Assistant Bold"/>
                <a:sym typeface="Assistant Bold"/>
              </a:rPr>
              <a:t>2.</a:t>
            </a:r>
          </a:p>
        </p:txBody>
      </p:sp>
      <p:sp>
        <p:nvSpPr>
          <p:cNvPr id="45" name="TextBox 45"/>
          <p:cNvSpPr txBox="1"/>
          <p:nvPr/>
        </p:nvSpPr>
        <p:spPr>
          <a:xfrm>
            <a:off x="10912563" y="3159441"/>
            <a:ext cx="3657398" cy="713737"/>
          </a:xfrm>
          <a:prstGeom prst="rect">
            <a:avLst/>
          </a:prstGeom>
        </p:spPr>
        <p:txBody>
          <a:bodyPr lIns="0" tIns="0" rIns="0" bIns="0" rtlCol="0" anchor="t">
            <a:spAutoFit/>
          </a:bodyPr>
          <a:lstStyle/>
          <a:p>
            <a:pPr algn="l">
              <a:lnSpc>
                <a:spcPts val="6200"/>
              </a:lnSpc>
            </a:pPr>
            <a:r>
              <a:rPr lang="en-US" sz="3100" spc="155">
                <a:solidFill>
                  <a:srgbClr val="0D1C38"/>
                </a:solidFill>
                <a:latin typeface="Assistant"/>
                <a:ea typeface="Assistant"/>
                <a:cs typeface="Assistant"/>
                <a:sym typeface="Assistant"/>
              </a:rPr>
              <a:t>Technologies Used</a:t>
            </a:r>
          </a:p>
        </p:txBody>
      </p:sp>
      <p:sp>
        <p:nvSpPr>
          <p:cNvPr id="46" name="TextBox 46"/>
          <p:cNvSpPr txBox="1"/>
          <p:nvPr/>
        </p:nvSpPr>
        <p:spPr>
          <a:xfrm>
            <a:off x="10073567" y="3182964"/>
            <a:ext cx="485810" cy="899159"/>
          </a:xfrm>
          <a:prstGeom prst="rect">
            <a:avLst/>
          </a:prstGeom>
        </p:spPr>
        <p:txBody>
          <a:bodyPr lIns="0" tIns="0" rIns="0" bIns="0" rtlCol="0" anchor="t">
            <a:spAutoFit/>
          </a:bodyPr>
          <a:lstStyle/>
          <a:p>
            <a:pPr algn="ctr">
              <a:lnSpc>
                <a:spcPts val="7800"/>
              </a:lnSpc>
            </a:pPr>
            <a:r>
              <a:rPr lang="en-US" sz="3900" b="1" spc="195">
                <a:solidFill>
                  <a:srgbClr val="0D1C38"/>
                </a:solidFill>
                <a:latin typeface="Assistant Bold"/>
                <a:ea typeface="Assistant Bold"/>
                <a:cs typeface="Assistant Bold"/>
                <a:sym typeface="Assistant Bold"/>
              </a:rPr>
              <a:t>5.</a:t>
            </a:r>
          </a:p>
        </p:txBody>
      </p:sp>
      <p:sp>
        <p:nvSpPr>
          <p:cNvPr id="47" name="TextBox 47"/>
          <p:cNvSpPr txBox="1"/>
          <p:nvPr/>
        </p:nvSpPr>
        <p:spPr>
          <a:xfrm>
            <a:off x="4990732" y="3168966"/>
            <a:ext cx="2489497" cy="695322"/>
          </a:xfrm>
          <a:prstGeom prst="rect">
            <a:avLst/>
          </a:prstGeom>
        </p:spPr>
        <p:txBody>
          <a:bodyPr lIns="0" tIns="0" rIns="0" bIns="0" rtlCol="0" anchor="t">
            <a:spAutoFit/>
          </a:bodyPr>
          <a:lstStyle/>
          <a:p>
            <a:pPr algn="l">
              <a:lnSpc>
                <a:spcPts val="6000"/>
              </a:lnSpc>
            </a:pPr>
            <a:r>
              <a:rPr lang="en-US" sz="3000" spc="150">
                <a:solidFill>
                  <a:srgbClr val="0D1C38"/>
                </a:solidFill>
                <a:latin typeface="Assistant"/>
                <a:ea typeface="Assistant"/>
                <a:cs typeface="Assistant"/>
                <a:sym typeface="Assistant"/>
              </a:rPr>
              <a:t>Introduction</a:t>
            </a:r>
          </a:p>
        </p:txBody>
      </p:sp>
      <p:sp>
        <p:nvSpPr>
          <p:cNvPr id="48" name="TextBox 48"/>
          <p:cNvSpPr txBox="1"/>
          <p:nvPr/>
        </p:nvSpPr>
        <p:spPr>
          <a:xfrm>
            <a:off x="3926126" y="3102291"/>
            <a:ext cx="635982" cy="899159"/>
          </a:xfrm>
          <a:prstGeom prst="rect">
            <a:avLst/>
          </a:prstGeom>
        </p:spPr>
        <p:txBody>
          <a:bodyPr lIns="0" tIns="0" rIns="0" bIns="0" rtlCol="0" anchor="t">
            <a:spAutoFit/>
          </a:bodyPr>
          <a:lstStyle/>
          <a:p>
            <a:pPr algn="ctr">
              <a:lnSpc>
                <a:spcPts val="7800"/>
              </a:lnSpc>
            </a:pPr>
            <a:r>
              <a:rPr lang="en-US" sz="3900" b="1" spc="195">
                <a:solidFill>
                  <a:srgbClr val="0D1C38"/>
                </a:solidFill>
                <a:latin typeface="Assistant Bold"/>
                <a:ea typeface="Assistant Bold"/>
                <a:cs typeface="Assistant Bold"/>
                <a:sym typeface="Assistant Bold"/>
              </a:rPr>
              <a:t>1.</a:t>
            </a:r>
          </a:p>
        </p:txBody>
      </p:sp>
      <p:sp>
        <p:nvSpPr>
          <p:cNvPr id="49" name="TextBox 49"/>
          <p:cNvSpPr txBox="1"/>
          <p:nvPr/>
        </p:nvSpPr>
        <p:spPr>
          <a:xfrm>
            <a:off x="4973208" y="2151677"/>
            <a:ext cx="7314637" cy="960139"/>
          </a:xfrm>
          <a:prstGeom prst="rect">
            <a:avLst/>
          </a:prstGeom>
        </p:spPr>
        <p:txBody>
          <a:bodyPr lIns="0" tIns="0" rIns="0" bIns="0" rtlCol="0" anchor="t">
            <a:spAutoFit/>
          </a:bodyPr>
          <a:lstStyle/>
          <a:p>
            <a:pPr algn="ctr">
              <a:lnSpc>
                <a:spcPts val="6720"/>
              </a:lnSpc>
            </a:pPr>
            <a:r>
              <a:rPr lang="en-US" sz="8400" b="1" u="sng">
                <a:solidFill>
                  <a:srgbClr val="73098E"/>
                </a:solidFill>
                <a:latin typeface="Roca One Bold"/>
                <a:ea typeface="Roca One Bold"/>
                <a:cs typeface="Roca One Bold"/>
                <a:sym typeface="Roca One Bold"/>
              </a:rPr>
              <a:t>Agenda</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2"/>
            <a:stretch>
              <a:fillRect l="-15597" r="-15597"/>
            </a:stretch>
          </a:blipFill>
        </p:spPr>
        <p:txBody>
          <a:bodyPr/>
          <a:lstStyle/>
          <a:p>
            <a:endParaRPr lang="en-IN"/>
          </a:p>
        </p:txBody>
      </p:sp>
      <p:grpSp>
        <p:nvGrpSpPr>
          <p:cNvPr id="3" name="Group 3"/>
          <p:cNvGrpSpPr/>
          <p:nvPr/>
        </p:nvGrpSpPr>
        <p:grpSpPr>
          <a:xfrm>
            <a:off x="1029443" y="1028700"/>
            <a:ext cx="16229114" cy="8229600"/>
            <a:chOff x="0" y="0"/>
            <a:chExt cx="4274335" cy="2167467"/>
          </a:xfrm>
        </p:grpSpPr>
        <p:sp>
          <p:nvSpPr>
            <p:cNvPr id="4" name="Freeform 4"/>
            <p:cNvSpPr/>
            <p:nvPr/>
          </p:nvSpPr>
          <p:spPr>
            <a:xfrm>
              <a:off x="0" y="0"/>
              <a:ext cx="4274334" cy="2167467"/>
            </a:xfrm>
            <a:custGeom>
              <a:avLst/>
              <a:gdLst/>
              <a:ahLst/>
              <a:cxnLst/>
              <a:rect l="l" t="t" r="r" b="b"/>
              <a:pathLst>
                <a:path w="4274334" h="2167467">
                  <a:moveTo>
                    <a:pt x="0" y="0"/>
                  </a:moveTo>
                  <a:lnTo>
                    <a:pt x="4274334" y="0"/>
                  </a:lnTo>
                  <a:lnTo>
                    <a:pt x="4274334" y="2167467"/>
                  </a:lnTo>
                  <a:lnTo>
                    <a:pt x="0" y="2167467"/>
                  </a:lnTo>
                  <a:close/>
                </a:path>
              </a:pathLst>
            </a:custGeom>
            <a:solidFill>
              <a:srgbClr val="FEFEFE"/>
            </a:solidFill>
          </p:spPr>
          <p:txBody>
            <a:bodyPr/>
            <a:lstStyle/>
            <a:p>
              <a:endParaRPr lang="en-IN"/>
            </a:p>
          </p:txBody>
        </p:sp>
        <p:sp>
          <p:nvSpPr>
            <p:cNvPr id="5" name="TextBox 5"/>
            <p:cNvSpPr txBox="1"/>
            <p:nvPr/>
          </p:nvSpPr>
          <p:spPr>
            <a:xfrm>
              <a:off x="0" y="57150"/>
              <a:ext cx="4274335" cy="2110317"/>
            </a:xfrm>
            <a:prstGeom prst="rect">
              <a:avLst/>
            </a:prstGeom>
          </p:spPr>
          <p:txBody>
            <a:bodyPr lIns="50800" tIns="50800" rIns="50800" bIns="50800" rtlCol="0" anchor="ctr"/>
            <a:lstStyle/>
            <a:p>
              <a:pPr algn="ctr">
                <a:lnSpc>
                  <a:spcPts val="2481"/>
                </a:lnSpc>
              </a:pPr>
              <a:endParaRPr/>
            </a:p>
          </p:txBody>
        </p:sp>
      </p:grpSp>
      <p:sp>
        <p:nvSpPr>
          <p:cNvPr id="6" name="Freeform 6"/>
          <p:cNvSpPr/>
          <p:nvPr/>
        </p:nvSpPr>
        <p:spPr>
          <a:xfrm flipH="1" flipV="1">
            <a:off x="16310046" y="-2312817"/>
            <a:ext cx="8623491" cy="8750775"/>
          </a:xfrm>
          <a:custGeom>
            <a:avLst/>
            <a:gdLst/>
            <a:ahLst/>
            <a:cxnLst/>
            <a:rect l="l" t="t" r="r" b="b"/>
            <a:pathLst>
              <a:path w="8623491" h="8750775">
                <a:moveTo>
                  <a:pt x="8623491" y="8750775"/>
                </a:moveTo>
                <a:lnTo>
                  <a:pt x="0" y="8750775"/>
                </a:lnTo>
                <a:lnTo>
                  <a:pt x="0" y="0"/>
                </a:lnTo>
                <a:lnTo>
                  <a:pt x="8623491" y="0"/>
                </a:lnTo>
                <a:lnTo>
                  <a:pt x="8623491" y="8750775"/>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7" name="Freeform 7"/>
          <p:cNvSpPr/>
          <p:nvPr/>
        </p:nvSpPr>
        <p:spPr>
          <a:xfrm>
            <a:off x="-6630940" y="3864288"/>
            <a:ext cx="8623491" cy="8750775"/>
          </a:xfrm>
          <a:custGeom>
            <a:avLst/>
            <a:gdLst/>
            <a:ahLst/>
            <a:cxnLst/>
            <a:rect l="l" t="t" r="r" b="b"/>
            <a:pathLst>
              <a:path w="8623491" h="8750775">
                <a:moveTo>
                  <a:pt x="0" y="0"/>
                </a:moveTo>
                <a:lnTo>
                  <a:pt x="8623491" y="0"/>
                </a:lnTo>
                <a:lnTo>
                  <a:pt x="8623491" y="8750775"/>
                </a:lnTo>
                <a:lnTo>
                  <a:pt x="0" y="8750775"/>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8" name="Freeform 8"/>
          <p:cNvSpPr/>
          <p:nvPr/>
        </p:nvSpPr>
        <p:spPr>
          <a:xfrm rot="-10800000">
            <a:off x="6125872" y="9311584"/>
            <a:ext cx="6036256" cy="3303478"/>
          </a:xfrm>
          <a:custGeom>
            <a:avLst/>
            <a:gdLst/>
            <a:ahLst/>
            <a:cxnLst/>
            <a:rect l="l" t="t" r="r" b="b"/>
            <a:pathLst>
              <a:path w="6036256" h="3303478">
                <a:moveTo>
                  <a:pt x="0" y="0"/>
                </a:moveTo>
                <a:lnTo>
                  <a:pt x="6036256" y="0"/>
                </a:lnTo>
                <a:lnTo>
                  <a:pt x="6036256" y="3303479"/>
                </a:lnTo>
                <a:lnTo>
                  <a:pt x="0" y="330347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a:p>
        </p:txBody>
      </p:sp>
      <p:sp>
        <p:nvSpPr>
          <p:cNvPr id="9" name="Freeform 9"/>
          <p:cNvSpPr/>
          <p:nvPr/>
        </p:nvSpPr>
        <p:spPr>
          <a:xfrm>
            <a:off x="12745410" y="4880945"/>
            <a:ext cx="3114027" cy="3114027"/>
          </a:xfrm>
          <a:custGeom>
            <a:avLst/>
            <a:gdLst/>
            <a:ahLst/>
            <a:cxnLst/>
            <a:rect l="l" t="t" r="r" b="b"/>
            <a:pathLst>
              <a:path w="3114027" h="3114027">
                <a:moveTo>
                  <a:pt x="0" y="0"/>
                </a:moveTo>
                <a:lnTo>
                  <a:pt x="3114027" y="0"/>
                </a:lnTo>
                <a:lnTo>
                  <a:pt x="3114027" y="3114026"/>
                </a:lnTo>
                <a:lnTo>
                  <a:pt x="0" y="3114026"/>
                </a:lnTo>
                <a:lnTo>
                  <a:pt x="0" y="0"/>
                </a:lnTo>
                <a:close/>
              </a:path>
            </a:pathLst>
          </a:custGeom>
          <a:blipFill>
            <a:blip r:embed="rId5"/>
            <a:stretch>
              <a:fillRect/>
            </a:stretch>
          </a:blipFill>
        </p:spPr>
        <p:txBody>
          <a:bodyPr/>
          <a:lstStyle/>
          <a:p>
            <a:endParaRPr lang="en-IN"/>
          </a:p>
        </p:txBody>
      </p:sp>
      <p:sp>
        <p:nvSpPr>
          <p:cNvPr id="10" name="TextBox 10"/>
          <p:cNvSpPr txBox="1"/>
          <p:nvPr/>
        </p:nvSpPr>
        <p:spPr>
          <a:xfrm>
            <a:off x="2354878" y="3098278"/>
            <a:ext cx="14347598" cy="5141397"/>
          </a:xfrm>
          <a:prstGeom prst="rect">
            <a:avLst/>
          </a:prstGeom>
        </p:spPr>
        <p:txBody>
          <a:bodyPr lIns="0" tIns="0" rIns="0" bIns="0" rtlCol="0" anchor="t">
            <a:spAutoFit/>
          </a:bodyPr>
          <a:lstStyle/>
          <a:p>
            <a:pPr algn="just">
              <a:lnSpc>
                <a:spcPts val="4011"/>
              </a:lnSpc>
            </a:pPr>
            <a:r>
              <a:rPr lang="en-US" sz="2865" b="1" spc="42" dirty="0">
                <a:solidFill>
                  <a:srgbClr val="0E182F"/>
                </a:solidFill>
                <a:latin typeface="Assistant Bold"/>
                <a:ea typeface="Assistant Bold"/>
                <a:cs typeface="Assistant Bold"/>
                <a:sym typeface="Assistant Bold"/>
              </a:rPr>
              <a:t>What is Employee Retention?</a:t>
            </a:r>
          </a:p>
          <a:p>
            <a:pPr algn="just">
              <a:lnSpc>
                <a:spcPts val="4011"/>
              </a:lnSpc>
            </a:pPr>
            <a:r>
              <a:rPr lang="en-US" sz="2865" spc="42" dirty="0">
                <a:solidFill>
                  <a:srgbClr val="0E182F"/>
                </a:solidFill>
                <a:latin typeface="Assistant"/>
                <a:ea typeface="Assistant"/>
                <a:cs typeface="Assistant"/>
                <a:sym typeface="Assistant"/>
              </a:rPr>
              <a:t>Employee retention is the ability of an organization to retain talented employees and reduce employee turnover. It plays a vital role in maintaining a stable, productive, and experienced workforce.</a:t>
            </a:r>
          </a:p>
          <a:p>
            <a:pPr algn="just">
              <a:lnSpc>
                <a:spcPts val="4011"/>
              </a:lnSpc>
            </a:pPr>
            <a:r>
              <a:rPr lang="en-US" sz="2865" b="1" spc="42" dirty="0">
                <a:solidFill>
                  <a:srgbClr val="0E182F"/>
                </a:solidFill>
                <a:latin typeface="Assistant Bold"/>
                <a:ea typeface="Assistant Bold"/>
                <a:cs typeface="Assistant Bold"/>
                <a:sym typeface="Assistant Bold"/>
              </a:rPr>
              <a:t>Why is Employee Retention Important?</a:t>
            </a:r>
          </a:p>
          <a:p>
            <a:pPr marL="618657" lvl="1" indent="-309328" algn="just">
              <a:lnSpc>
                <a:spcPts val="4011"/>
              </a:lnSpc>
              <a:buFont typeface="Arial"/>
              <a:buChar char="•"/>
            </a:pPr>
            <a:r>
              <a:rPr lang="en-US" sz="2865" spc="42" dirty="0">
                <a:solidFill>
                  <a:srgbClr val="0E182F"/>
                </a:solidFill>
                <a:latin typeface="Assistant"/>
                <a:ea typeface="Assistant"/>
                <a:cs typeface="Assistant"/>
                <a:sym typeface="Assistant"/>
              </a:rPr>
              <a:t>Reduces recruitment and training costs.</a:t>
            </a:r>
          </a:p>
          <a:p>
            <a:pPr marL="618657" lvl="1" indent="-309328" algn="just">
              <a:lnSpc>
                <a:spcPts val="4011"/>
              </a:lnSpc>
              <a:buFont typeface="Arial"/>
              <a:buChar char="•"/>
            </a:pPr>
            <a:r>
              <a:rPr lang="en-US" sz="2865" spc="42" dirty="0">
                <a:solidFill>
                  <a:srgbClr val="0E182F"/>
                </a:solidFill>
                <a:latin typeface="Assistant"/>
                <a:ea typeface="Assistant"/>
                <a:cs typeface="Assistant"/>
                <a:sym typeface="Assistant"/>
              </a:rPr>
              <a:t>Improves employee productivity and performance.</a:t>
            </a:r>
          </a:p>
          <a:p>
            <a:pPr marL="618657" lvl="1" indent="-309328" algn="just">
              <a:lnSpc>
                <a:spcPts val="4011"/>
              </a:lnSpc>
              <a:buFont typeface="Arial"/>
              <a:buChar char="•"/>
            </a:pPr>
            <a:r>
              <a:rPr lang="en-US" sz="2865" spc="42" dirty="0">
                <a:solidFill>
                  <a:srgbClr val="0E182F"/>
                </a:solidFill>
                <a:latin typeface="Assistant"/>
                <a:ea typeface="Assistant"/>
                <a:cs typeface="Assistant"/>
                <a:sym typeface="Assistant"/>
              </a:rPr>
              <a:t>Increases employee satisfaction and engagement.</a:t>
            </a:r>
          </a:p>
          <a:p>
            <a:pPr marL="618657" lvl="1" indent="-309328" algn="just">
              <a:lnSpc>
                <a:spcPts val="4011"/>
              </a:lnSpc>
              <a:buFont typeface="Arial"/>
              <a:buChar char="•"/>
            </a:pPr>
            <a:r>
              <a:rPr lang="en-US" sz="2865" spc="42" dirty="0">
                <a:solidFill>
                  <a:srgbClr val="0E182F"/>
                </a:solidFill>
                <a:latin typeface="Assistant"/>
                <a:ea typeface="Assistant"/>
                <a:cs typeface="Assistant"/>
                <a:sym typeface="Assistant"/>
              </a:rPr>
              <a:t>Helps retain skilled and experienced employees.</a:t>
            </a:r>
          </a:p>
          <a:p>
            <a:pPr marL="618657" lvl="1" indent="-309328" algn="just">
              <a:lnSpc>
                <a:spcPts val="4011"/>
              </a:lnSpc>
              <a:buFont typeface="Arial"/>
              <a:buChar char="•"/>
            </a:pPr>
            <a:r>
              <a:rPr lang="en-US" sz="2865" spc="42" dirty="0">
                <a:solidFill>
                  <a:srgbClr val="0E182F"/>
                </a:solidFill>
                <a:latin typeface="Assistant"/>
                <a:ea typeface="Assistant"/>
                <a:cs typeface="Assistant"/>
                <a:sym typeface="Assistant"/>
              </a:rPr>
              <a:t>Supports organizational growth and business success.</a:t>
            </a:r>
          </a:p>
          <a:p>
            <a:pPr algn="just">
              <a:lnSpc>
                <a:spcPts val="244"/>
              </a:lnSpc>
            </a:pPr>
            <a:endParaRPr lang="en-US" sz="2865" spc="42" dirty="0">
              <a:solidFill>
                <a:srgbClr val="0E182F"/>
              </a:solidFill>
              <a:latin typeface="Assistant"/>
              <a:ea typeface="Assistant"/>
              <a:cs typeface="Assistant"/>
              <a:sym typeface="Assistant"/>
            </a:endParaRPr>
          </a:p>
        </p:txBody>
      </p:sp>
      <p:sp>
        <p:nvSpPr>
          <p:cNvPr id="11" name="TextBox 11"/>
          <p:cNvSpPr txBox="1"/>
          <p:nvPr/>
        </p:nvSpPr>
        <p:spPr>
          <a:xfrm>
            <a:off x="4847491" y="2201454"/>
            <a:ext cx="7314637" cy="749332"/>
          </a:xfrm>
          <a:prstGeom prst="rect">
            <a:avLst/>
          </a:prstGeom>
        </p:spPr>
        <p:txBody>
          <a:bodyPr lIns="0" tIns="0" rIns="0" bIns="0" rtlCol="0" anchor="t">
            <a:spAutoFit/>
          </a:bodyPr>
          <a:lstStyle/>
          <a:p>
            <a:pPr algn="ctr">
              <a:lnSpc>
                <a:spcPts val="5200"/>
              </a:lnSpc>
            </a:pPr>
            <a:r>
              <a:rPr lang="en-US" sz="6500" u="sng">
                <a:solidFill>
                  <a:srgbClr val="73098E"/>
                </a:solidFill>
                <a:latin typeface="Roca One"/>
                <a:ea typeface="Roca One"/>
                <a:cs typeface="Roca One"/>
                <a:sym typeface="Roca One"/>
              </a:rPr>
              <a:t>Introduction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2"/>
            <a:stretch>
              <a:fillRect l="-15597" r="-15597"/>
            </a:stretch>
          </a:blipFill>
        </p:spPr>
        <p:txBody>
          <a:bodyPr/>
          <a:lstStyle/>
          <a:p>
            <a:endParaRPr lang="en-IN"/>
          </a:p>
        </p:txBody>
      </p:sp>
      <p:grpSp>
        <p:nvGrpSpPr>
          <p:cNvPr id="3" name="Group 3"/>
          <p:cNvGrpSpPr/>
          <p:nvPr/>
        </p:nvGrpSpPr>
        <p:grpSpPr>
          <a:xfrm>
            <a:off x="1029443" y="1028700"/>
            <a:ext cx="16229114" cy="8229600"/>
            <a:chOff x="0" y="0"/>
            <a:chExt cx="4274335" cy="2167467"/>
          </a:xfrm>
        </p:grpSpPr>
        <p:sp>
          <p:nvSpPr>
            <p:cNvPr id="4" name="Freeform 4"/>
            <p:cNvSpPr/>
            <p:nvPr/>
          </p:nvSpPr>
          <p:spPr>
            <a:xfrm>
              <a:off x="0" y="0"/>
              <a:ext cx="4274334" cy="2167467"/>
            </a:xfrm>
            <a:custGeom>
              <a:avLst/>
              <a:gdLst/>
              <a:ahLst/>
              <a:cxnLst/>
              <a:rect l="l" t="t" r="r" b="b"/>
              <a:pathLst>
                <a:path w="4274334" h="2167467">
                  <a:moveTo>
                    <a:pt x="0" y="0"/>
                  </a:moveTo>
                  <a:lnTo>
                    <a:pt x="4274334" y="0"/>
                  </a:lnTo>
                  <a:lnTo>
                    <a:pt x="4274334" y="2167467"/>
                  </a:lnTo>
                  <a:lnTo>
                    <a:pt x="0" y="2167467"/>
                  </a:lnTo>
                  <a:close/>
                </a:path>
              </a:pathLst>
            </a:custGeom>
            <a:solidFill>
              <a:srgbClr val="FEFEFE"/>
            </a:solidFill>
          </p:spPr>
          <p:txBody>
            <a:bodyPr/>
            <a:lstStyle/>
            <a:p>
              <a:endParaRPr lang="en-IN"/>
            </a:p>
          </p:txBody>
        </p:sp>
        <p:sp>
          <p:nvSpPr>
            <p:cNvPr id="5" name="TextBox 5"/>
            <p:cNvSpPr txBox="1"/>
            <p:nvPr/>
          </p:nvSpPr>
          <p:spPr>
            <a:xfrm>
              <a:off x="0" y="57150"/>
              <a:ext cx="4274335" cy="2110317"/>
            </a:xfrm>
            <a:prstGeom prst="rect">
              <a:avLst/>
            </a:prstGeom>
          </p:spPr>
          <p:txBody>
            <a:bodyPr lIns="50800" tIns="50800" rIns="50800" bIns="50800" rtlCol="0" anchor="ctr"/>
            <a:lstStyle/>
            <a:p>
              <a:pPr algn="ctr">
                <a:lnSpc>
                  <a:spcPts val="2481"/>
                </a:lnSpc>
              </a:pPr>
              <a:endParaRPr/>
            </a:p>
          </p:txBody>
        </p:sp>
      </p:grpSp>
      <p:sp>
        <p:nvSpPr>
          <p:cNvPr id="6" name="Freeform 6"/>
          <p:cNvSpPr/>
          <p:nvPr/>
        </p:nvSpPr>
        <p:spPr>
          <a:xfrm flipH="1" flipV="1">
            <a:off x="16310046" y="-2312817"/>
            <a:ext cx="8623491" cy="8750775"/>
          </a:xfrm>
          <a:custGeom>
            <a:avLst/>
            <a:gdLst/>
            <a:ahLst/>
            <a:cxnLst/>
            <a:rect l="l" t="t" r="r" b="b"/>
            <a:pathLst>
              <a:path w="8623491" h="8750775">
                <a:moveTo>
                  <a:pt x="8623491" y="8750775"/>
                </a:moveTo>
                <a:lnTo>
                  <a:pt x="0" y="8750775"/>
                </a:lnTo>
                <a:lnTo>
                  <a:pt x="0" y="0"/>
                </a:lnTo>
                <a:lnTo>
                  <a:pt x="8623491" y="0"/>
                </a:lnTo>
                <a:lnTo>
                  <a:pt x="8623491" y="8750775"/>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7" name="Freeform 7"/>
          <p:cNvSpPr/>
          <p:nvPr/>
        </p:nvSpPr>
        <p:spPr>
          <a:xfrm>
            <a:off x="-6630940" y="3864288"/>
            <a:ext cx="8623491" cy="8750775"/>
          </a:xfrm>
          <a:custGeom>
            <a:avLst/>
            <a:gdLst/>
            <a:ahLst/>
            <a:cxnLst/>
            <a:rect l="l" t="t" r="r" b="b"/>
            <a:pathLst>
              <a:path w="8623491" h="8750775">
                <a:moveTo>
                  <a:pt x="0" y="0"/>
                </a:moveTo>
                <a:lnTo>
                  <a:pt x="8623491" y="0"/>
                </a:lnTo>
                <a:lnTo>
                  <a:pt x="8623491" y="8750775"/>
                </a:lnTo>
                <a:lnTo>
                  <a:pt x="0" y="8750775"/>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8" name="Freeform 8"/>
          <p:cNvSpPr/>
          <p:nvPr/>
        </p:nvSpPr>
        <p:spPr>
          <a:xfrm rot="-10800000">
            <a:off x="6125872" y="9311584"/>
            <a:ext cx="6036256" cy="3303478"/>
          </a:xfrm>
          <a:custGeom>
            <a:avLst/>
            <a:gdLst/>
            <a:ahLst/>
            <a:cxnLst/>
            <a:rect l="l" t="t" r="r" b="b"/>
            <a:pathLst>
              <a:path w="6036256" h="3303478">
                <a:moveTo>
                  <a:pt x="0" y="0"/>
                </a:moveTo>
                <a:lnTo>
                  <a:pt x="6036256" y="0"/>
                </a:lnTo>
                <a:lnTo>
                  <a:pt x="6036256" y="3303479"/>
                </a:lnTo>
                <a:lnTo>
                  <a:pt x="0" y="330347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a:p>
        </p:txBody>
      </p:sp>
      <p:sp>
        <p:nvSpPr>
          <p:cNvPr id="9" name="Freeform 9"/>
          <p:cNvSpPr/>
          <p:nvPr/>
        </p:nvSpPr>
        <p:spPr>
          <a:xfrm>
            <a:off x="14372846" y="6577855"/>
            <a:ext cx="1594604" cy="1882044"/>
          </a:xfrm>
          <a:custGeom>
            <a:avLst/>
            <a:gdLst/>
            <a:ahLst/>
            <a:cxnLst/>
            <a:rect l="l" t="t" r="r" b="b"/>
            <a:pathLst>
              <a:path w="1594604" h="1882044">
                <a:moveTo>
                  <a:pt x="0" y="0"/>
                </a:moveTo>
                <a:lnTo>
                  <a:pt x="1594604" y="0"/>
                </a:lnTo>
                <a:lnTo>
                  <a:pt x="1594604" y="1882044"/>
                </a:lnTo>
                <a:lnTo>
                  <a:pt x="0" y="1882044"/>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IN"/>
          </a:p>
        </p:txBody>
      </p:sp>
      <p:sp>
        <p:nvSpPr>
          <p:cNvPr id="10" name="Freeform 10"/>
          <p:cNvSpPr/>
          <p:nvPr/>
        </p:nvSpPr>
        <p:spPr>
          <a:xfrm>
            <a:off x="1613142" y="3479102"/>
            <a:ext cx="252939" cy="256791"/>
          </a:xfrm>
          <a:custGeom>
            <a:avLst/>
            <a:gdLst/>
            <a:ahLst/>
            <a:cxnLst/>
            <a:rect l="l" t="t" r="r" b="b"/>
            <a:pathLst>
              <a:path w="252939" h="256791">
                <a:moveTo>
                  <a:pt x="0" y="0"/>
                </a:moveTo>
                <a:lnTo>
                  <a:pt x="252939" y="0"/>
                </a:lnTo>
                <a:lnTo>
                  <a:pt x="252939" y="256790"/>
                </a:lnTo>
                <a:lnTo>
                  <a:pt x="0" y="256790"/>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IN"/>
          </a:p>
        </p:txBody>
      </p:sp>
      <p:sp>
        <p:nvSpPr>
          <p:cNvPr id="11" name="TextBox 11"/>
          <p:cNvSpPr txBox="1"/>
          <p:nvPr/>
        </p:nvSpPr>
        <p:spPr>
          <a:xfrm>
            <a:off x="1992551" y="2854119"/>
            <a:ext cx="7992349" cy="5209286"/>
          </a:xfrm>
          <a:prstGeom prst="rect">
            <a:avLst/>
          </a:prstGeom>
        </p:spPr>
        <p:txBody>
          <a:bodyPr lIns="0" tIns="0" rIns="0" bIns="0" rtlCol="0" anchor="t">
            <a:spAutoFit/>
          </a:bodyPr>
          <a:lstStyle/>
          <a:p>
            <a:pPr algn="l">
              <a:lnSpc>
                <a:spcPts val="3840"/>
              </a:lnSpc>
            </a:pPr>
            <a:r>
              <a:rPr lang="en-US" sz="3000" b="1">
                <a:solidFill>
                  <a:srgbClr val="0E182F"/>
                </a:solidFill>
                <a:latin typeface="Roboto Bold"/>
                <a:ea typeface="Roboto Bold"/>
                <a:cs typeface="Roboto Bold"/>
                <a:sym typeface="Roboto Bold"/>
              </a:rPr>
              <a:t>Existing Challenges</a:t>
            </a:r>
          </a:p>
          <a:p>
            <a:pPr algn="l">
              <a:lnSpc>
                <a:spcPts val="3200"/>
              </a:lnSpc>
            </a:pPr>
            <a:r>
              <a:rPr lang="en-US" sz="2500">
                <a:solidFill>
                  <a:srgbClr val="0E182F"/>
                </a:solidFill>
                <a:latin typeface="Roboto"/>
                <a:ea typeface="Roboto"/>
                <a:cs typeface="Roboto"/>
                <a:sym typeface="Roboto"/>
              </a:rPr>
              <a:t>High employee attrition affects organizational growth                 and productivity.</a:t>
            </a:r>
          </a:p>
          <a:p>
            <a:pPr algn="l">
              <a:lnSpc>
                <a:spcPts val="3456"/>
              </a:lnSpc>
            </a:pPr>
            <a:r>
              <a:rPr lang="en-US" sz="2700">
                <a:solidFill>
                  <a:srgbClr val="0E182F"/>
                </a:solidFill>
                <a:latin typeface="Roboto"/>
                <a:ea typeface="Roboto"/>
                <a:cs typeface="Roboto"/>
                <a:sym typeface="Roboto"/>
              </a:rPr>
              <a:t>HR departments find it difficult to identify employees who are likely to leave.</a:t>
            </a:r>
          </a:p>
          <a:p>
            <a:pPr algn="l">
              <a:lnSpc>
                <a:spcPts val="3456"/>
              </a:lnSpc>
            </a:pPr>
            <a:r>
              <a:rPr lang="en-US" sz="2700">
                <a:solidFill>
                  <a:srgbClr val="0E182F"/>
                </a:solidFill>
                <a:latin typeface="Roboto"/>
                <a:ea typeface="Roboto"/>
                <a:cs typeface="Roboto"/>
                <a:sym typeface="Roboto"/>
              </a:rPr>
              <a:t>Manual analysis is time-consuming and prone to  errors.</a:t>
            </a:r>
          </a:p>
          <a:p>
            <a:pPr algn="l">
              <a:lnSpc>
                <a:spcPts val="3456"/>
              </a:lnSpc>
            </a:pPr>
            <a:r>
              <a:rPr lang="en-US" sz="2700">
                <a:solidFill>
                  <a:srgbClr val="0E182F"/>
                </a:solidFill>
                <a:latin typeface="Roboto"/>
                <a:ea typeface="Roboto"/>
                <a:cs typeface="Roboto"/>
                <a:sym typeface="Roboto"/>
              </a:rPr>
              <a:t>Frequent recruitment and training increase operational costs.</a:t>
            </a:r>
          </a:p>
          <a:p>
            <a:pPr algn="l">
              <a:lnSpc>
                <a:spcPts val="3328"/>
              </a:lnSpc>
            </a:pPr>
            <a:r>
              <a:rPr lang="en-US" sz="2600">
                <a:solidFill>
                  <a:srgbClr val="0E182F"/>
                </a:solidFill>
                <a:latin typeface="Roboto"/>
                <a:ea typeface="Roboto"/>
                <a:cs typeface="Roboto"/>
                <a:sym typeface="Roboto"/>
              </a:rPr>
              <a:t> Lack of predictive tools makes employee retention planning difficult.</a:t>
            </a:r>
          </a:p>
          <a:p>
            <a:pPr algn="l">
              <a:lnSpc>
                <a:spcPts val="3584"/>
              </a:lnSpc>
            </a:pPr>
            <a:endParaRPr lang="en-US" sz="2600">
              <a:solidFill>
                <a:srgbClr val="0E182F"/>
              </a:solidFill>
              <a:latin typeface="Roboto"/>
              <a:ea typeface="Roboto"/>
              <a:cs typeface="Roboto"/>
              <a:sym typeface="Roboto"/>
            </a:endParaRPr>
          </a:p>
        </p:txBody>
      </p:sp>
      <p:sp>
        <p:nvSpPr>
          <p:cNvPr id="12" name="Freeform 12"/>
          <p:cNvSpPr/>
          <p:nvPr/>
        </p:nvSpPr>
        <p:spPr>
          <a:xfrm>
            <a:off x="1613142" y="4311301"/>
            <a:ext cx="252939" cy="256791"/>
          </a:xfrm>
          <a:custGeom>
            <a:avLst/>
            <a:gdLst/>
            <a:ahLst/>
            <a:cxnLst/>
            <a:rect l="l" t="t" r="r" b="b"/>
            <a:pathLst>
              <a:path w="252939" h="256791">
                <a:moveTo>
                  <a:pt x="0" y="0"/>
                </a:moveTo>
                <a:lnTo>
                  <a:pt x="252939" y="0"/>
                </a:lnTo>
                <a:lnTo>
                  <a:pt x="252939" y="256791"/>
                </a:lnTo>
                <a:lnTo>
                  <a:pt x="0" y="256791"/>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IN"/>
          </a:p>
        </p:txBody>
      </p:sp>
      <p:sp>
        <p:nvSpPr>
          <p:cNvPr id="13" name="Freeform 13"/>
          <p:cNvSpPr/>
          <p:nvPr/>
        </p:nvSpPr>
        <p:spPr>
          <a:xfrm>
            <a:off x="1613142" y="6800082"/>
            <a:ext cx="252939" cy="256791"/>
          </a:xfrm>
          <a:custGeom>
            <a:avLst/>
            <a:gdLst/>
            <a:ahLst/>
            <a:cxnLst/>
            <a:rect l="l" t="t" r="r" b="b"/>
            <a:pathLst>
              <a:path w="252939" h="256791">
                <a:moveTo>
                  <a:pt x="0" y="0"/>
                </a:moveTo>
                <a:lnTo>
                  <a:pt x="252939" y="0"/>
                </a:lnTo>
                <a:lnTo>
                  <a:pt x="252939" y="256790"/>
                </a:lnTo>
                <a:lnTo>
                  <a:pt x="0" y="256790"/>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IN"/>
          </a:p>
        </p:txBody>
      </p:sp>
      <p:sp>
        <p:nvSpPr>
          <p:cNvPr id="14" name="Freeform 14"/>
          <p:cNvSpPr/>
          <p:nvPr/>
        </p:nvSpPr>
        <p:spPr>
          <a:xfrm>
            <a:off x="1613142" y="5971791"/>
            <a:ext cx="252939" cy="256791"/>
          </a:xfrm>
          <a:custGeom>
            <a:avLst/>
            <a:gdLst/>
            <a:ahLst/>
            <a:cxnLst/>
            <a:rect l="l" t="t" r="r" b="b"/>
            <a:pathLst>
              <a:path w="252939" h="256791">
                <a:moveTo>
                  <a:pt x="0" y="0"/>
                </a:moveTo>
                <a:lnTo>
                  <a:pt x="252939" y="0"/>
                </a:lnTo>
                <a:lnTo>
                  <a:pt x="252939" y="256791"/>
                </a:lnTo>
                <a:lnTo>
                  <a:pt x="0" y="256791"/>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IN"/>
          </a:p>
        </p:txBody>
      </p:sp>
      <p:sp>
        <p:nvSpPr>
          <p:cNvPr id="15" name="Freeform 15"/>
          <p:cNvSpPr/>
          <p:nvPr/>
        </p:nvSpPr>
        <p:spPr>
          <a:xfrm>
            <a:off x="1613142" y="5143500"/>
            <a:ext cx="252939" cy="256791"/>
          </a:xfrm>
          <a:custGeom>
            <a:avLst/>
            <a:gdLst/>
            <a:ahLst/>
            <a:cxnLst/>
            <a:rect l="l" t="t" r="r" b="b"/>
            <a:pathLst>
              <a:path w="252939" h="256791">
                <a:moveTo>
                  <a:pt x="0" y="0"/>
                </a:moveTo>
                <a:lnTo>
                  <a:pt x="252939" y="0"/>
                </a:lnTo>
                <a:lnTo>
                  <a:pt x="252939" y="256791"/>
                </a:lnTo>
                <a:lnTo>
                  <a:pt x="0" y="256791"/>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IN"/>
          </a:p>
        </p:txBody>
      </p:sp>
      <p:sp>
        <p:nvSpPr>
          <p:cNvPr id="16" name="TextBox 16"/>
          <p:cNvSpPr txBox="1"/>
          <p:nvPr/>
        </p:nvSpPr>
        <p:spPr>
          <a:xfrm>
            <a:off x="5486682" y="1865238"/>
            <a:ext cx="7314637" cy="585166"/>
          </a:xfrm>
          <a:prstGeom prst="rect">
            <a:avLst/>
          </a:prstGeom>
        </p:spPr>
        <p:txBody>
          <a:bodyPr lIns="0" tIns="0" rIns="0" bIns="0" rtlCol="0" anchor="t">
            <a:spAutoFit/>
          </a:bodyPr>
          <a:lstStyle/>
          <a:p>
            <a:pPr algn="ctr">
              <a:lnSpc>
                <a:spcPts val="4115"/>
              </a:lnSpc>
            </a:pPr>
            <a:r>
              <a:rPr lang="en-US" sz="5144" u="sng">
                <a:solidFill>
                  <a:srgbClr val="73098E"/>
                </a:solidFill>
                <a:latin typeface="Roca One"/>
                <a:ea typeface="Roca One"/>
                <a:cs typeface="Roca One"/>
                <a:sym typeface="Roca One"/>
              </a:rPr>
              <a:t>Problem Statement</a:t>
            </a:r>
          </a:p>
        </p:txBody>
      </p:sp>
      <p:sp>
        <p:nvSpPr>
          <p:cNvPr id="17" name="TextBox 17"/>
          <p:cNvSpPr txBox="1"/>
          <p:nvPr/>
        </p:nvSpPr>
        <p:spPr>
          <a:xfrm>
            <a:off x="9984900" y="3726367"/>
            <a:ext cx="6821169" cy="2673130"/>
          </a:xfrm>
          <a:prstGeom prst="rect">
            <a:avLst/>
          </a:prstGeom>
        </p:spPr>
        <p:txBody>
          <a:bodyPr lIns="0" tIns="0" rIns="0" bIns="0" rtlCol="0" anchor="t">
            <a:spAutoFit/>
          </a:bodyPr>
          <a:lstStyle/>
          <a:p>
            <a:pPr algn="just">
              <a:lnSpc>
                <a:spcPts val="3476"/>
              </a:lnSpc>
            </a:pPr>
            <a:r>
              <a:rPr lang="en-US" sz="2873" b="1" spc="43">
                <a:solidFill>
                  <a:srgbClr val="000000"/>
                </a:solidFill>
                <a:latin typeface="Roboto Bold"/>
                <a:ea typeface="Roboto Bold"/>
                <a:cs typeface="Roboto Bold"/>
                <a:sym typeface="Roboto Bold"/>
              </a:rPr>
              <a:t>Proposed Solution</a:t>
            </a:r>
          </a:p>
          <a:p>
            <a:pPr algn="just">
              <a:lnSpc>
                <a:spcPts val="2992"/>
              </a:lnSpc>
            </a:pPr>
            <a:r>
              <a:rPr lang="en-US" sz="2473" spc="37">
                <a:solidFill>
                  <a:srgbClr val="000000"/>
                </a:solidFill>
                <a:latin typeface="Roboto"/>
                <a:ea typeface="Roboto"/>
                <a:cs typeface="Roboto"/>
                <a:sym typeface="Roboto"/>
              </a:rPr>
              <a:t>Develop a Machine Learning-based Employee Retention Predictor that analyzes employee information and predicts whether an employee is likely to Stay or Leave. This enables HR teams to take proactive measures to improve employee retention.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7620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2"/>
            <a:stretch>
              <a:fillRect l="-15597" r="-15597"/>
            </a:stretch>
          </a:blipFill>
        </p:spPr>
        <p:txBody>
          <a:bodyPr/>
          <a:lstStyle/>
          <a:p>
            <a:endParaRPr lang="en-IN"/>
          </a:p>
        </p:txBody>
      </p:sp>
      <p:grpSp>
        <p:nvGrpSpPr>
          <p:cNvPr id="3" name="Group 3"/>
          <p:cNvGrpSpPr/>
          <p:nvPr/>
        </p:nvGrpSpPr>
        <p:grpSpPr>
          <a:xfrm>
            <a:off x="990600" y="1028700"/>
            <a:ext cx="16229114" cy="8229600"/>
            <a:chOff x="0" y="0"/>
            <a:chExt cx="4274335" cy="2167467"/>
          </a:xfrm>
        </p:grpSpPr>
        <p:sp>
          <p:nvSpPr>
            <p:cNvPr id="4" name="Freeform 4"/>
            <p:cNvSpPr/>
            <p:nvPr/>
          </p:nvSpPr>
          <p:spPr>
            <a:xfrm>
              <a:off x="0" y="0"/>
              <a:ext cx="4274334" cy="2167467"/>
            </a:xfrm>
            <a:custGeom>
              <a:avLst/>
              <a:gdLst/>
              <a:ahLst/>
              <a:cxnLst/>
              <a:rect l="l" t="t" r="r" b="b"/>
              <a:pathLst>
                <a:path w="4274334" h="2167467">
                  <a:moveTo>
                    <a:pt x="0" y="0"/>
                  </a:moveTo>
                  <a:lnTo>
                    <a:pt x="4274334" y="0"/>
                  </a:lnTo>
                  <a:lnTo>
                    <a:pt x="4274334" y="2167467"/>
                  </a:lnTo>
                  <a:lnTo>
                    <a:pt x="0" y="2167467"/>
                  </a:lnTo>
                  <a:close/>
                </a:path>
              </a:pathLst>
            </a:custGeom>
            <a:solidFill>
              <a:srgbClr val="FEFEFE"/>
            </a:solidFill>
          </p:spPr>
          <p:txBody>
            <a:bodyPr/>
            <a:lstStyle/>
            <a:p>
              <a:endParaRPr lang="en-IN"/>
            </a:p>
          </p:txBody>
        </p:sp>
        <p:sp>
          <p:nvSpPr>
            <p:cNvPr id="5" name="TextBox 5"/>
            <p:cNvSpPr txBox="1"/>
            <p:nvPr/>
          </p:nvSpPr>
          <p:spPr>
            <a:xfrm>
              <a:off x="0" y="57150"/>
              <a:ext cx="4274335" cy="2110317"/>
            </a:xfrm>
            <a:prstGeom prst="rect">
              <a:avLst/>
            </a:prstGeom>
          </p:spPr>
          <p:txBody>
            <a:bodyPr lIns="50800" tIns="50800" rIns="50800" bIns="50800" rtlCol="0" anchor="ctr"/>
            <a:lstStyle/>
            <a:p>
              <a:pPr algn="ctr">
                <a:lnSpc>
                  <a:spcPts val="2481"/>
                </a:lnSpc>
              </a:pPr>
              <a:endParaRPr/>
            </a:p>
          </p:txBody>
        </p:sp>
      </p:grpSp>
      <p:sp>
        <p:nvSpPr>
          <p:cNvPr id="6" name="Freeform 6"/>
          <p:cNvSpPr/>
          <p:nvPr/>
        </p:nvSpPr>
        <p:spPr>
          <a:xfrm flipH="1" flipV="1">
            <a:off x="16310046" y="-2312817"/>
            <a:ext cx="8623491" cy="8750775"/>
          </a:xfrm>
          <a:custGeom>
            <a:avLst/>
            <a:gdLst/>
            <a:ahLst/>
            <a:cxnLst/>
            <a:rect l="l" t="t" r="r" b="b"/>
            <a:pathLst>
              <a:path w="8623491" h="8750775">
                <a:moveTo>
                  <a:pt x="8623491" y="8750775"/>
                </a:moveTo>
                <a:lnTo>
                  <a:pt x="0" y="8750775"/>
                </a:lnTo>
                <a:lnTo>
                  <a:pt x="0" y="0"/>
                </a:lnTo>
                <a:lnTo>
                  <a:pt x="8623491" y="0"/>
                </a:lnTo>
                <a:lnTo>
                  <a:pt x="8623491" y="8750775"/>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7" name="Freeform 7"/>
          <p:cNvSpPr/>
          <p:nvPr/>
        </p:nvSpPr>
        <p:spPr>
          <a:xfrm>
            <a:off x="-6630940" y="3864288"/>
            <a:ext cx="8623491" cy="8750775"/>
          </a:xfrm>
          <a:custGeom>
            <a:avLst/>
            <a:gdLst/>
            <a:ahLst/>
            <a:cxnLst/>
            <a:rect l="l" t="t" r="r" b="b"/>
            <a:pathLst>
              <a:path w="8623491" h="8750775">
                <a:moveTo>
                  <a:pt x="0" y="0"/>
                </a:moveTo>
                <a:lnTo>
                  <a:pt x="8623491" y="0"/>
                </a:lnTo>
                <a:lnTo>
                  <a:pt x="8623491" y="8750775"/>
                </a:lnTo>
                <a:lnTo>
                  <a:pt x="0" y="8750775"/>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8" name="Freeform 8"/>
          <p:cNvSpPr/>
          <p:nvPr/>
        </p:nvSpPr>
        <p:spPr>
          <a:xfrm rot="-10800000">
            <a:off x="6125872" y="9311584"/>
            <a:ext cx="6036256" cy="3303478"/>
          </a:xfrm>
          <a:custGeom>
            <a:avLst/>
            <a:gdLst/>
            <a:ahLst/>
            <a:cxnLst/>
            <a:rect l="l" t="t" r="r" b="b"/>
            <a:pathLst>
              <a:path w="6036256" h="3303478">
                <a:moveTo>
                  <a:pt x="0" y="0"/>
                </a:moveTo>
                <a:lnTo>
                  <a:pt x="6036256" y="0"/>
                </a:lnTo>
                <a:lnTo>
                  <a:pt x="6036256" y="3303479"/>
                </a:lnTo>
                <a:lnTo>
                  <a:pt x="0" y="330347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a:p>
        </p:txBody>
      </p:sp>
      <p:sp>
        <p:nvSpPr>
          <p:cNvPr id="9" name="TextBox 9"/>
          <p:cNvSpPr txBox="1"/>
          <p:nvPr/>
        </p:nvSpPr>
        <p:spPr>
          <a:xfrm>
            <a:off x="1992551" y="3207556"/>
            <a:ext cx="9458211" cy="4592359"/>
          </a:xfrm>
          <a:prstGeom prst="rect">
            <a:avLst/>
          </a:prstGeom>
        </p:spPr>
        <p:txBody>
          <a:bodyPr lIns="0" tIns="0" rIns="0" bIns="0" rtlCol="0" anchor="t">
            <a:spAutoFit/>
          </a:bodyPr>
          <a:lstStyle/>
          <a:p>
            <a:pPr marL="658824" lvl="1" indent="-329412" algn="l">
              <a:lnSpc>
                <a:spcPts val="3051"/>
              </a:lnSpc>
              <a:buFont typeface="Arial"/>
              <a:buChar char="•"/>
            </a:pPr>
            <a:r>
              <a:rPr lang="en-US" sz="3051" spc="45" dirty="0">
                <a:solidFill>
                  <a:srgbClr val="0D1C38"/>
                </a:solidFill>
                <a:latin typeface="Assistant"/>
                <a:ea typeface="Assistant"/>
                <a:cs typeface="Assistant"/>
                <a:sym typeface="Assistant"/>
              </a:rPr>
              <a:t>The main objectives of this project are:</a:t>
            </a:r>
          </a:p>
          <a:p>
            <a:pPr marL="658824" lvl="1" indent="-329412" algn="l">
              <a:lnSpc>
                <a:spcPts val="3051"/>
              </a:lnSpc>
              <a:buFont typeface="Arial"/>
              <a:buChar char="•"/>
            </a:pPr>
            <a:r>
              <a:rPr lang="en-US" sz="3051" spc="45" dirty="0">
                <a:solidFill>
                  <a:srgbClr val="0D1C38"/>
                </a:solidFill>
                <a:latin typeface="Assistant"/>
                <a:ea typeface="Assistant"/>
                <a:cs typeface="Assistant"/>
                <a:sym typeface="Assistant"/>
              </a:rPr>
              <a:t>Predict employee retention using Machine Learning.</a:t>
            </a:r>
          </a:p>
          <a:p>
            <a:pPr marL="658824" lvl="1" indent="-329412" algn="l">
              <a:lnSpc>
                <a:spcPts val="3051"/>
              </a:lnSpc>
              <a:buFont typeface="Arial"/>
              <a:buChar char="•"/>
            </a:pPr>
            <a:r>
              <a:rPr lang="en-US" sz="3051" spc="45" dirty="0">
                <a:solidFill>
                  <a:srgbClr val="0D1C38"/>
                </a:solidFill>
                <a:latin typeface="Assistant"/>
                <a:ea typeface="Assistant"/>
                <a:cs typeface="Assistant"/>
                <a:sym typeface="Assistant"/>
              </a:rPr>
              <a:t>Help HR identify employees who are at risk of leaving.</a:t>
            </a:r>
          </a:p>
          <a:p>
            <a:pPr marL="658824" lvl="1" indent="-329412" algn="l">
              <a:lnSpc>
                <a:spcPts val="3051"/>
              </a:lnSpc>
              <a:buFont typeface="Arial"/>
              <a:buChar char="•"/>
            </a:pPr>
            <a:r>
              <a:rPr lang="en-US" sz="3051" spc="45" dirty="0">
                <a:solidFill>
                  <a:srgbClr val="0D1C38"/>
                </a:solidFill>
                <a:latin typeface="Assistant"/>
                <a:ea typeface="Assistant"/>
                <a:cs typeface="Assistant"/>
                <a:sym typeface="Assistant"/>
              </a:rPr>
              <a:t>Reduce employee turnover through data-driven insights.</a:t>
            </a:r>
          </a:p>
          <a:p>
            <a:pPr marL="658824" lvl="1" indent="-329412" algn="l">
              <a:lnSpc>
                <a:spcPts val="3051"/>
              </a:lnSpc>
              <a:buFont typeface="Arial"/>
              <a:buChar char="•"/>
            </a:pPr>
            <a:r>
              <a:rPr lang="en-US" sz="3051" spc="45" dirty="0">
                <a:solidFill>
                  <a:srgbClr val="0D1C38"/>
                </a:solidFill>
                <a:latin typeface="Assistant"/>
                <a:ea typeface="Assistant"/>
                <a:cs typeface="Assistant"/>
                <a:sym typeface="Assistant"/>
              </a:rPr>
              <a:t>Improve workforce planning and decision-making.</a:t>
            </a:r>
          </a:p>
          <a:p>
            <a:pPr marL="658824" lvl="1" indent="-329412" algn="l">
              <a:lnSpc>
                <a:spcPts val="3051"/>
              </a:lnSpc>
              <a:buFont typeface="Arial"/>
              <a:buChar char="•"/>
            </a:pPr>
            <a:r>
              <a:rPr lang="en-US" sz="3051" spc="45" dirty="0">
                <a:solidFill>
                  <a:srgbClr val="0D1C38"/>
                </a:solidFill>
                <a:latin typeface="Assistant"/>
                <a:ea typeface="Assistant"/>
                <a:cs typeface="Assistant"/>
                <a:sym typeface="Assistant"/>
              </a:rPr>
              <a:t>Generate confidence scores for each prediction.</a:t>
            </a:r>
          </a:p>
          <a:p>
            <a:pPr marL="658824" lvl="1" indent="-329412" algn="l">
              <a:lnSpc>
                <a:spcPts val="3051"/>
              </a:lnSpc>
              <a:buFont typeface="Arial"/>
              <a:buChar char="•"/>
            </a:pPr>
            <a:r>
              <a:rPr lang="en-US" sz="3051" spc="45" dirty="0">
                <a:solidFill>
                  <a:srgbClr val="0D1C38"/>
                </a:solidFill>
                <a:latin typeface="Assistant"/>
                <a:ea typeface="Assistant"/>
                <a:cs typeface="Assistant"/>
                <a:sym typeface="Assistant"/>
              </a:rPr>
              <a:t>Provide HR recommendations based on prediction results.</a:t>
            </a:r>
          </a:p>
          <a:p>
            <a:pPr marL="658824" lvl="1" indent="-329412" algn="l">
              <a:lnSpc>
                <a:spcPts val="3051"/>
              </a:lnSpc>
              <a:buFont typeface="Arial"/>
              <a:buChar char="•"/>
            </a:pPr>
            <a:r>
              <a:rPr lang="en-US" sz="3051" spc="45" dirty="0">
                <a:solidFill>
                  <a:srgbClr val="0D1C38"/>
                </a:solidFill>
                <a:latin typeface="Assistant"/>
                <a:ea typeface="Assistant"/>
                <a:cs typeface="Assistant"/>
                <a:sym typeface="Assistant"/>
              </a:rPr>
              <a:t>Generate downloadable prediction reports for future reference.</a:t>
            </a:r>
          </a:p>
        </p:txBody>
      </p:sp>
      <p:sp>
        <p:nvSpPr>
          <p:cNvPr id="10" name="Freeform 10"/>
          <p:cNvSpPr/>
          <p:nvPr/>
        </p:nvSpPr>
        <p:spPr>
          <a:xfrm>
            <a:off x="12162128" y="3150406"/>
            <a:ext cx="4011930" cy="4114800"/>
          </a:xfrm>
          <a:custGeom>
            <a:avLst/>
            <a:gdLst/>
            <a:ahLst/>
            <a:cxnLst/>
            <a:rect l="l" t="t" r="r" b="b"/>
            <a:pathLst>
              <a:path w="4011930" h="4114800">
                <a:moveTo>
                  <a:pt x="0" y="0"/>
                </a:moveTo>
                <a:lnTo>
                  <a:pt x="4011930" y="0"/>
                </a:lnTo>
                <a:lnTo>
                  <a:pt x="4011930" y="4114800"/>
                </a:lnTo>
                <a:lnTo>
                  <a:pt x="0" y="411480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IN"/>
          </a:p>
        </p:txBody>
      </p:sp>
      <p:sp>
        <p:nvSpPr>
          <p:cNvPr id="11" name="TextBox 11"/>
          <p:cNvSpPr txBox="1"/>
          <p:nvPr/>
        </p:nvSpPr>
        <p:spPr>
          <a:xfrm>
            <a:off x="4706221" y="1823794"/>
            <a:ext cx="10054124" cy="736740"/>
          </a:xfrm>
          <a:prstGeom prst="rect">
            <a:avLst/>
          </a:prstGeom>
        </p:spPr>
        <p:txBody>
          <a:bodyPr lIns="0" tIns="0" rIns="0" bIns="0" rtlCol="0" anchor="t">
            <a:spAutoFit/>
          </a:bodyPr>
          <a:lstStyle/>
          <a:p>
            <a:pPr algn="l">
              <a:lnSpc>
                <a:spcPts val="5120"/>
              </a:lnSpc>
            </a:pPr>
            <a:r>
              <a:rPr lang="en-US" sz="6400" u="sng" dirty="0">
                <a:solidFill>
                  <a:srgbClr val="73098E"/>
                </a:solidFill>
                <a:latin typeface="Roca One"/>
                <a:ea typeface="Roca One"/>
                <a:cs typeface="Roca One"/>
                <a:sym typeface="Roca One"/>
              </a:rPr>
              <a:t>Project</a:t>
            </a:r>
            <a:r>
              <a:rPr lang="en-US" sz="6400" dirty="0">
                <a:solidFill>
                  <a:srgbClr val="73098E"/>
                </a:solidFill>
                <a:latin typeface="Roca One"/>
                <a:ea typeface="Roca One"/>
                <a:cs typeface="Roca One"/>
                <a:sym typeface="Roca One"/>
              </a:rPr>
              <a:t> </a:t>
            </a:r>
            <a:r>
              <a:rPr lang="en-US" sz="6400" u="sng" dirty="0">
                <a:solidFill>
                  <a:srgbClr val="73098E"/>
                </a:solidFill>
                <a:latin typeface="Roca One"/>
                <a:ea typeface="Roca One"/>
                <a:cs typeface="Roca One"/>
                <a:sym typeface="Roca One"/>
              </a:rPr>
              <a:t>Objectives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2"/>
            <a:stretch>
              <a:fillRect l="-15597" r="-15597"/>
            </a:stretch>
          </a:blipFill>
        </p:spPr>
        <p:txBody>
          <a:bodyPr/>
          <a:lstStyle/>
          <a:p>
            <a:endParaRPr lang="en-IN"/>
          </a:p>
        </p:txBody>
      </p:sp>
      <p:grpSp>
        <p:nvGrpSpPr>
          <p:cNvPr id="3" name="Group 3"/>
          <p:cNvGrpSpPr/>
          <p:nvPr/>
        </p:nvGrpSpPr>
        <p:grpSpPr>
          <a:xfrm>
            <a:off x="1029443" y="674649"/>
            <a:ext cx="16229114" cy="8229600"/>
            <a:chOff x="0" y="0"/>
            <a:chExt cx="4274335" cy="2167467"/>
          </a:xfrm>
        </p:grpSpPr>
        <p:sp>
          <p:nvSpPr>
            <p:cNvPr id="4" name="Freeform 4"/>
            <p:cNvSpPr/>
            <p:nvPr/>
          </p:nvSpPr>
          <p:spPr>
            <a:xfrm>
              <a:off x="0" y="0"/>
              <a:ext cx="4274334" cy="2167467"/>
            </a:xfrm>
            <a:custGeom>
              <a:avLst/>
              <a:gdLst/>
              <a:ahLst/>
              <a:cxnLst/>
              <a:rect l="l" t="t" r="r" b="b"/>
              <a:pathLst>
                <a:path w="4274334" h="2167467">
                  <a:moveTo>
                    <a:pt x="0" y="0"/>
                  </a:moveTo>
                  <a:lnTo>
                    <a:pt x="4274334" y="0"/>
                  </a:lnTo>
                  <a:lnTo>
                    <a:pt x="4274334" y="2167467"/>
                  </a:lnTo>
                  <a:lnTo>
                    <a:pt x="0" y="2167467"/>
                  </a:lnTo>
                  <a:close/>
                </a:path>
              </a:pathLst>
            </a:custGeom>
            <a:solidFill>
              <a:srgbClr val="FEFEFE"/>
            </a:solidFill>
          </p:spPr>
          <p:txBody>
            <a:bodyPr/>
            <a:lstStyle/>
            <a:p>
              <a:endParaRPr lang="en-IN" dirty="0"/>
            </a:p>
          </p:txBody>
        </p:sp>
        <p:sp>
          <p:nvSpPr>
            <p:cNvPr id="5" name="TextBox 5"/>
            <p:cNvSpPr txBox="1"/>
            <p:nvPr/>
          </p:nvSpPr>
          <p:spPr>
            <a:xfrm>
              <a:off x="0" y="57150"/>
              <a:ext cx="4274335" cy="2110317"/>
            </a:xfrm>
            <a:prstGeom prst="rect">
              <a:avLst/>
            </a:prstGeom>
          </p:spPr>
          <p:txBody>
            <a:bodyPr lIns="50800" tIns="50800" rIns="50800" bIns="50800" rtlCol="0" anchor="ctr"/>
            <a:lstStyle/>
            <a:p>
              <a:pPr algn="ctr">
                <a:lnSpc>
                  <a:spcPts val="2481"/>
                </a:lnSpc>
              </a:pPr>
              <a:endParaRPr/>
            </a:p>
          </p:txBody>
        </p:sp>
      </p:grpSp>
      <p:sp>
        <p:nvSpPr>
          <p:cNvPr id="6" name="Freeform 6"/>
          <p:cNvSpPr/>
          <p:nvPr/>
        </p:nvSpPr>
        <p:spPr>
          <a:xfrm flipH="1" flipV="1">
            <a:off x="16310046" y="-2312817"/>
            <a:ext cx="8623491" cy="8750775"/>
          </a:xfrm>
          <a:custGeom>
            <a:avLst/>
            <a:gdLst/>
            <a:ahLst/>
            <a:cxnLst/>
            <a:rect l="l" t="t" r="r" b="b"/>
            <a:pathLst>
              <a:path w="8623491" h="8750775">
                <a:moveTo>
                  <a:pt x="8623491" y="8750775"/>
                </a:moveTo>
                <a:lnTo>
                  <a:pt x="0" y="8750775"/>
                </a:lnTo>
                <a:lnTo>
                  <a:pt x="0" y="0"/>
                </a:lnTo>
                <a:lnTo>
                  <a:pt x="8623491" y="0"/>
                </a:lnTo>
                <a:lnTo>
                  <a:pt x="8623491" y="8750775"/>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7" name="Freeform 7"/>
          <p:cNvSpPr/>
          <p:nvPr/>
        </p:nvSpPr>
        <p:spPr>
          <a:xfrm>
            <a:off x="-6630940" y="3864288"/>
            <a:ext cx="8623491" cy="8750775"/>
          </a:xfrm>
          <a:custGeom>
            <a:avLst/>
            <a:gdLst/>
            <a:ahLst/>
            <a:cxnLst/>
            <a:rect l="l" t="t" r="r" b="b"/>
            <a:pathLst>
              <a:path w="8623491" h="8750775">
                <a:moveTo>
                  <a:pt x="0" y="0"/>
                </a:moveTo>
                <a:lnTo>
                  <a:pt x="8623491" y="0"/>
                </a:lnTo>
                <a:lnTo>
                  <a:pt x="8623491" y="8750775"/>
                </a:lnTo>
                <a:lnTo>
                  <a:pt x="0" y="8750775"/>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8" name="Freeform 8"/>
          <p:cNvSpPr/>
          <p:nvPr/>
        </p:nvSpPr>
        <p:spPr>
          <a:xfrm rot="-10800000">
            <a:off x="6125872" y="9311584"/>
            <a:ext cx="6036256" cy="3303478"/>
          </a:xfrm>
          <a:custGeom>
            <a:avLst/>
            <a:gdLst/>
            <a:ahLst/>
            <a:cxnLst/>
            <a:rect l="l" t="t" r="r" b="b"/>
            <a:pathLst>
              <a:path w="6036256" h="3303478">
                <a:moveTo>
                  <a:pt x="0" y="0"/>
                </a:moveTo>
                <a:lnTo>
                  <a:pt x="6036256" y="0"/>
                </a:lnTo>
                <a:lnTo>
                  <a:pt x="6036256" y="3303479"/>
                </a:lnTo>
                <a:lnTo>
                  <a:pt x="0" y="330347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a:p>
        </p:txBody>
      </p:sp>
      <p:sp>
        <p:nvSpPr>
          <p:cNvPr id="10" name="TextBox 10"/>
          <p:cNvSpPr txBox="1"/>
          <p:nvPr/>
        </p:nvSpPr>
        <p:spPr>
          <a:xfrm>
            <a:off x="5061273" y="1405921"/>
            <a:ext cx="9559952" cy="656649"/>
          </a:xfrm>
          <a:prstGeom prst="rect">
            <a:avLst/>
          </a:prstGeom>
        </p:spPr>
        <p:txBody>
          <a:bodyPr lIns="0" tIns="0" rIns="0" bIns="0" rtlCol="0" anchor="t">
            <a:spAutoFit/>
          </a:bodyPr>
          <a:lstStyle/>
          <a:p>
            <a:pPr algn="l">
              <a:lnSpc>
                <a:spcPts val="4640"/>
              </a:lnSpc>
            </a:pPr>
            <a:r>
              <a:rPr lang="en-US" sz="5801" u="sng">
                <a:solidFill>
                  <a:srgbClr val="73098E"/>
                </a:solidFill>
                <a:latin typeface="Roca One"/>
                <a:ea typeface="Roca One"/>
                <a:cs typeface="Roca One"/>
                <a:sym typeface="Roca One"/>
              </a:rPr>
              <a:t>Technologies Used</a:t>
            </a:r>
          </a:p>
        </p:txBody>
      </p:sp>
      <p:graphicFrame>
        <p:nvGraphicFramePr>
          <p:cNvPr id="12" name="Table 11">
            <a:extLst>
              <a:ext uri="{FF2B5EF4-FFF2-40B4-BE49-F238E27FC236}">
                <a16:creationId xmlns:a16="http://schemas.microsoft.com/office/drawing/2014/main" id="{F1FA7B06-43AC-907F-A941-94FC0387D1AA}"/>
              </a:ext>
            </a:extLst>
          </p:cNvPr>
          <p:cNvGraphicFramePr>
            <a:graphicFrameLocks noGrp="1"/>
          </p:cNvGraphicFramePr>
          <p:nvPr>
            <p:extLst>
              <p:ext uri="{D42A27DB-BD31-4B8C-83A1-F6EECF244321}">
                <p14:modId xmlns:p14="http://schemas.microsoft.com/office/powerpoint/2010/main" val="1401535020"/>
              </p:ext>
            </p:extLst>
          </p:nvPr>
        </p:nvGraphicFramePr>
        <p:xfrm>
          <a:off x="3681372" y="2781300"/>
          <a:ext cx="10939854" cy="5334003"/>
        </p:xfrm>
        <a:graphic>
          <a:graphicData uri="http://schemas.openxmlformats.org/drawingml/2006/table">
            <a:tbl>
              <a:tblPr firstRow="1" bandRow="1">
                <a:tableStyleId>{5C22544A-7EE6-4342-B048-85BDC9FD1C3A}</a:tableStyleId>
              </a:tblPr>
              <a:tblGrid>
                <a:gridCol w="5469927">
                  <a:extLst>
                    <a:ext uri="{9D8B030D-6E8A-4147-A177-3AD203B41FA5}">
                      <a16:colId xmlns:a16="http://schemas.microsoft.com/office/drawing/2014/main" val="2492858915"/>
                    </a:ext>
                  </a:extLst>
                </a:gridCol>
                <a:gridCol w="5469927">
                  <a:extLst>
                    <a:ext uri="{9D8B030D-6E8A-4147-A177-3AD203B41FA5}">
                      <a16:colId xmlns:a16="http://schemas.microsoft.com/office/drawing/2014/main" val="4146921571"/>
                    </a:ext>
                  </a:extLst>
                </a:gridCol>
              </a:tblGrid>
              <a:tr h="592667">
                <a:tc>
                  <a:txBody>
                    <a:bodyPr/>
                    <a:lstStyle/>
                    <a:p>
                      <a:endParaRPr lang="en-IN"/>
                    </a:p>
                  </a:txBody>
                  <a:tcPr/>
                </a:tc>
                <a:tc>
                  <a:txBody>
                    <a:bodyPr/>
                    <a:lstStyle/>
                    <a:p>
                      <a:endParaRPr lang="en-IN"/>
                    </a:p>
                  </a:txBody>
                  <a:tcPr/>
                </a:tc>
                <a:extLst>
                  <a:ext uri="{0D108BD9-81ED-4DB2-BD59-A6C34878D82A}">
                    <a16:rowId xmlns:a16="http://schemas.microsoft.com/office/drawing/2014/main" val="1966757312"/>
                  </a:ext>
                </a:extLst>
              </a:tr>
              <a:tr h="592667">
                <a:tc>
                  <a:txBody>
                    <a:bodyPr/>
                    <a:lstStyle/>
                    <a:p>
                      <a:endParaRPr lang="en-IN"/>
                    </a:p>
                  </a:txBody>
                  <a:tcPr/>
                </a:tc>
                <a:tc>
                  <a:txBody>
                    <a:bodyPr/>
                    <a:lstStyle/>
                    <a:p>
                      <a:endParaRPr lang="en-IN"/>
                    </a:p>
                  </a:txBody>
                  <a:tcPr/>
                </a:tc>
                <a:extLst>
                  <a:ext uri="{0D108BD9-81ED-4DB2-BD59-A6C34878D82A}">
                    <a16:rowId xmlns:a16="http://schemas.microsoft.com/office/drawing/2014/main" val="3338758659"/>
                  </a:ext>
                </a:extLst>
              </a:tr>
              <a:tr h="592667">
                <a:tc>
                  <a:txBody>
                    <a:bodyPr/>
                    <a:lstStyle/>
                    <a:p>
                      <a:endParaRPr lang="en-IN"/>
                    </a:p>
                  </a:txBody>
                  <a:tcPr/>
                </a:tc>
                <a:tc>
                  <a:txBody>
                    <a:bodyPr/>
                    <a:lstStyle/>
                    <a:p>
                      <a:endParaRPr lang="en-IN" dirty="0"/>
                    </a:p>
                  </a:txBody>
                  <a:tcPr/>
                </a:tc>
                <a:extLst>
                  <a:ext uri="{0D108BD9-81ED-4DB2-BD59-A6C34878D82A}">
                    <a16:rowId xmlns:a16="http://schemas.microsoft.com/office/drawing/2014/main" val="582970562"/>
                  </a:ext>
                </a:extLst>
              </a:tr>
              <a:tr h="592667">
                <a:tc>
                  <a:txBody>
                    <a:bodyPr/>
                    <a:lstStyle/>
                    <a:p>
                      <a:endParaRPr lang="en-IN" dirty="0"/>
                    </a:p>
                  </a:txBody>
                  <a:tcPr/>
                </a:tc>
                <a:tc>
                  <a:txBody>
                    <a:bodyPr/>
                    <a:lstStyle/>
                    <a:p>
                      <a:endParaRPr lang="en-IN"/>
                    </a:p>
                  </a:txBody>
                  <a:tcPr/>
                </a:tc>
                <a:extLst>
                  <a:ext uri="{0D108BD9-81ED-4DB2-BD59-A6C34878D82A}">
                    <a16:rowId xmlns:a16="http://schemas.microsoft.com/office/drawing/2014/main" val="1814359005"/>
                  </a:ext>
                </a:extLst>
              </a:tr>
              <a:tr h="592667">
                <a:tc>
                  <a:txBody>
                    <a:bodyPr/>
                    <a:lstStyle/>
                    <a:p>
                      <a:endParaRPr lang="en-IN" dirty="0"/>
                    </a:p>
                  </a:txBody>
                  <a:tcPr/>
                </a:tc>
                <a:tc>
                  <a:txBody>
                    <a:bodyPr/>
                    <a:lstStyle/>
                    <a:p>
                      <a:endParaRPr lang="en-IN" dirty="0"/>
                    </a:p>
                  </a:txBody>
                  <a:tcPr/>
                </a:tc>
                <a:extLst>
                  <a:ext uri="{0D108BD9-81ED-4DB2-BD59-A6C34878D82A}">
                    <a16:rowId xmlns:a16="http://schemas.microsoft.com/office/drawing/2014/main" val="3860489096"/>
                  </a:ext>
                </a:extLst>
              </a:tr>
              <a:tr h="592667">
                <a:tc>
                  <a:txBody>
                    <a:bodyPr/>
                    <a:lstStyle/>
                    <a:p>
                      <a:endParaRPr lang="en-IN" dirty="0"/>
                    </a:p>
                  </a:txBody>
                  <a:tcPr/>
                </a:tc>
                <a:tc>
                  <a:txBody>
                    <a:bodyPr/>
                    <a:lstStyle/>
                    <a:p>
                      <a:endParaRPr lang="en-IN" dirty="0"/>
                    </a:p>
                  </a:txBody>
                  <a:tcPr/>
                </a:tc>
                <a:extLst>
                  <a:ext uri="{0D108BD9-81ED-4DB2-BD59-A6C34878D82A}">
                    <a16:rowId xmlns:a16="http://schemas.microsoft.com/office/drawing/2014/main" val="3659234712"/>
                  </a:ext>
                </a:extLst>
              </a:tr>
              <a:tr h="592667">
                <a:tc>
                  <a:txBody>
                    <a:bodyPr/>
                    <a:lstStyle/>
                    <a:p>
                      <a:endParaRPr lang="en-IN"/>
                    </a:p>
                  </a:txBody>
                  <a:tcPr/>
                </a:tc>
                <a:tc>
                  <a:txBody>
                    <a:bodyPr/>
                    <a:lstStyle/>
                    <a:p>
                      <a:endParaRPr lang="en-IN" dirty="0"/>
                    </a:p>
                  </a:txBody>
                  <a:tcPr/>
                </a:tc>
                <a:extLst>
                  <a:ext uri="{0D108BD9-81ED-4DB2-BD59-A6C34878D82A}">
                    <a16:rowId xmlns:a16="http://schemas.microsoft.com/office/drawing/2014/main" val="3905557781"/>
                  </a:ext>
                </a:extLst>
              </a:tr>
              <a:tr h="592667">
                <a:tc>
                  <a:txBody>
                    <a:bodyPr/>
                    <a:lstStyle/>
                    <a:p>
                      <a:endParaRPr lang="en-IN"/>
                    </a:p>
                  </a:txBody>
                  <a:tcPr/>
                </a:tc>
                <a:tc>
                  <a:txBody>
                    <a:bodyPr/>
                    <a:lstStyle/>
                    <a:p>
                      <a:endParaRPr lang="en-IN" dirty="0"/>
                    </a:p>
                  </a:txBody>
                  <a:tcPr/>
                </a:tc>
                <a:extLst>
                  <a:ext uri="{0D108BD9-81ED-4DB2-BD59-A6C34878D82A}">
                    <a16:rowId xmlns:a16="http://schemas.microsoft.com/office/drawing/2014/main" val="1861898148"/>
                  </a:ext>
                </a:extLst>
              </a:tr>
              <a:tr h="592667">
                <a:tc>
                  <a:txBody>
                    <a:bodyPr/>
                    <a:lstStyle/>
                    <a:p>
                      <a:endParaRPr lang="en-IN"/>
                    </a:p>
                  </a:txBody>
                  <a:tcPr/>
                </a:tc>
                <a:tc>
                  <a:txBody>
                    <a:bodyPr/>
                    <a:lstStyle/>
                    <a:p>
                      <a:endParaRPr lang="en-IN" dirty="0"/>
                    </a:p>
                  </a:txBody>
                  <a:tcPr/>
                </a:tc>
                <a:extLst>
                  <a:ext uri="{0D108BD9-81ED-4DB2-BD59-A6C34878D82A}">
                    <a16:rowId xmlns:a16="http://schemas.microsoft.com/office/drawing/2014/main" val="2219966918"/>
                  </a:ext>
                </a:extLst>
              </a:tr>
            </a:tbl>
          </a:graphicData>
        </a:graphic>
      </p:graphicFrame>
      <p:graphicFrame>
        <p:nvGraphicFramePr>
          <p:cNvPr id="14" name="Table 13">
            <a:extLst>
              <a:ext uri="{FF2B5EF4-FFF2-40B4-BE49-F238E27FC236}">
                <a16:creationId xmlns:a16="http://schemas.microsoft.com/office/drawing/2014/main" id="{676B20D6-8947-7846-E246-1ED2F4BE53B1}"/>
              </a:ext>
            </a:extLst>
          </p:cNvPr>
          <p:cNvGraphicFramePr>
            <a:graphicFrameLocks noGrp="1"/>
          </p:cNvGraphicFramePr>
          <p:nvPr>
            <p:extLst>
              <p:ext uri="{D42A27DB-BD31-4B8C-83A1-F6EECF244321}">
                <p14:modId xmlns:p14="http://schemas.microsoft.com/office/powerpoint/2010/main" val="3465473255"/>
              </p:ext>
            </p:extLst>
          </p:nvPr>
        </p:nvGraphicFramePr>
        <p:xfrm>
          <a:off x="3692794" y="2848782"/>
          <a:ext cx="12258606" cy="5179184"/>
        </p:xfrm>
        <a:graphic>
          <a:graphicData uri="http://schemas.openxmlformats.org/drawingml/2006/table">
            <a:tbl>
              <a:tblPr/>
              <a:tblGrid>
                <a:gridCol w="6129303">
                  <a:extLst>
                    <a:ext uri="{9D8B030D-6E8A-4147-A177-3AD203B41FA5}">
                      <a16:colId xmlns:a16="http://schemas.microsoft.com/office/drawing/2014/main" val="3599245406"/>
                    </a:ext>
                  </a:extLst>
                </a:gridCol>
                <a:gridCol w="6129303">
                  <a:extLst>
                    <a:ext uri="{9D8B030D-6E8A-4147-A177-3AD203B41FA5}">
                      <a16:colId xmlns:a16="http://schemas.microsoft.com/office/drawing/2014/main" val="2124527348"/>
                    </a:ext>
                  </a:extLst>
                </a:gridCol>
              </a:tblGrid>
              <a:tr h="575008">
                <a:tc>
                  <a:txBody>
                    <a:bodyPr/>
                    <a:lstStyle/>
                    <a:p>
                      <a:pPr>
                        <a:buNone/>
                      </a:pPr>
                      <a:r>
                        <a:rPr lang="en-IN" sz="3200" dirty="0"/>
                        <a:t>Technology</a:t>
                      </a:r>
                    </a:p>
                  </a:txBody>
                  <a:tcPr anchor="ctr">
                    <a:lnL>
                      <a:noFill/>
                    </a:lnL>
                    <a:lnR>
                      <a:noFill/>
                    </a:lnR>
                    <a:lnT>
                      <a:noFill/>
                    </a:lnT>
                    <a:lnB>
                      <a:noFill/>
                    </a:lnB>
                    <a:noFill/>
                  </a:tcPr>
                </a:tc>
                <a:tc>
                  <a:txBody>
                    <a:bodyPr/>
                    <a:lstStyle/>
                    <a:p>
                      <a:pPr>
                        <a:buNone/>
                      </a:pPr>
                      <a:r>
                        <a:rPr lang="en-IN" sz="3200" dirty="0"/>
                        <a:t>Purpose</a:t>
                      </a:r>
                    </a:p>
                  </a:txBody>
                  <a:tcPr anchor="ctr">
                    <a:lnL>
                      <a:noFill/>
                    </a:lnL>
                    <a:lnR>
                      <a:noFill/>
                    </a:lnR>
                    <a:lnT>
                      <a:noFill/>
                    </a:lnT>
                    <a:lnB>
                      <a:noFill/>
                    </a:lnB>
                    <a:noFill/>
                  </a:tcPr>
                </a:tc>
                <a:extLst>
                  <a:ext uri="{0D108BD9-81ED-4DB2-BD59-A6C34878D82A}">
                    <a16:rowId xmlns:a16="http://schemas.microsoft.com/office/drawing/2014/main" val="52348444"/>
                  </a:ext>
                </a:extLst>
              </a:tr>
              <a:tr h="575008">
                <a:tc>
                  <a:txBody>
                    <a:bodyPr/>
                    <a:lstStyle/>
                    <a:p>
                      <a:pPr>
                        <a:buNone/>
                      </a:pPr>
                      <a:r>
                        <a:rPr lang="en-IN" sz="2400" dirty="0"/>
                        <a:t>🐍 Python</a:t>
                      </a:r>
                    </a:p>
                  </a:txBody>
                  <a:tcPr anchor="ctr">
                    <a:lnL>
                      <a:noFill/>
                    </a:lnL>
                    <a:lnR>
                      <a:noFill/>
                    </a:lnR>
                    <a:lnT>
                      <a:noFill/>
                    </a:lnT>
                    <a:lnB>
                      <a:noFill/>
                    </a:lnB>
                    <a:noFill/>
                  </a:tcPr>
                </a:tc>
                <a:tc>
                  <a:txBody>
                    <a:bodyPr/>
                    <a:lstStyle/>
                    <a:p>
                      <a:pPr>
                        <a:buNone/>
                      </a:pPr>
                      <a:r>
                        <a:rPr lang="en-IN" sz="2400" dirty="0"/>
                        <a:t>Programming Language</a:t>
                      </a:r>
                    </a:p>
                  </a:txBody>
                  <a:tcPr anchor="ctr">
                    <a:lnL>
                      <a:noFill/>
                    </a:lnL>
                    <a:lnR>
                      <a:noFill/>
                    </a:lnR>
                    <a:lnT>
                      <a:noFill/>
                    </a:lnT>
                    <a:lnB>
                      <a:noFill/>
                    </a:lnB>
                    <a:noFill/>
                  </a:tcPr>
                </a:tc>
                <a:extLst>
                  <a:ext uri="{0D108BD9-81ED-4DB2-BD59-A6C34878D82A}">
                    <a16:rowId xmlns:a16="http://schemas.microsoft.com/office/drawing/2014/main" val="684153256"/>
                  </a:ext>
                </a:extLst>
              </a:tr>
              <a:tr h="575008">
                <a:tc>
                  <a:txBody>
                    <a:bodyPr/>
                    <a:lstStyle/>
                    <a:p>
                      <a:pPr>
                        <a:buNone/>
                      </a:pPr>
                      <a:r>
                        <a:rPr lang="en-IN" sz="2400" dirty="0"/>
                        <a:t>🌐 </a:t>
                      </a:r>
                      <a:r>
                        <a:rPr lang="en-IN" sz="2400" dirty="0" err="1"/>
                        <a:t>Streamlit</a:t>
                      </a:r>
                      <a:endParaRPr lang="en-IN" sz="2400" dirty="0"/>
                    </a:p>
                  </a:txBody>
                  <a:tcPr anchor="ctr">
                    <a:lnL>
                      <a:noFill/>
                    </a:lnL>
                    <a:lnR>
                      <a:noFill/>
                    </a:lnR>
                    <a:lnT>
                      <a:noFill/>
                    </a:lnT>
                    <a:lnB>
                      <a:noFill/>
                    </a:lnB>
                    <a:noFill/>
                  </a:tcPr>
                </a:tc>
                <a:tc>
                  <a:txBody>
                    <a:bodyPr/>
                    <a:lstStyle/>
                    <a:p>
                      <a:pPr>
                        <a:buNone/>
                      </a:pPr>
                      <a:r>
                        <a:rPr lang="en-IN" sz="2400" dirty="0"/>
                        <a:t>Web Application Development</a:t>
                      </a:r>
                    </a:p>
                  </a:txBody>
                  <a:tcPr anchor="ctr">
                    <a:lnL>
                      <a:noFill/>
                    </a:lnL>
                    <a:lnR>
                      <a:noFill/>
                    </a:lnR>
                    <a:lnT>
                      <a:noFill/>
                    </a:lnT>
                    <a:lnB>
                      <a:noFill/>
                    </a:lnB>
                    <a:noFill/>
                  </a:tcPr>
                </a:tc>
                <a:extLst>
                  <a:ext uri="{0D108BD9-81ED-4DB2-BD59-A6C34878D82A}">
                    <a16:rowId xmlns:a16="http://schemas.microsoft.com/office/drawing/2014/main" val="1930137429"/>
                  </a:ext>
                </a:extLst>
              </a:tr>
              <a:tr h="575008">
                <a:tc>
                  <a:txBody>
                    <a:bodyPr/>
                    <a:lstStyle/>
                    <a:p>
                      <a:pPr>
                        <a:buNone/>
                      </a:pPr>
                      <a:r>
                        <a:rPr lang="en-IN" sz="2400" dirty="0"/>
                        <a:t>📊 Pandas</a:t>
                      </a:r>
                    </a:p>
                  </a:txBody>
                  <a:tcPr anchor="ctr">
                    <a:lnL>
                      <a:noFill/>
                    </a:lnL>
                    <a:lnR>
                      <a:noFill/>
                    </a:lnR>
                    <a:lnT>
                      <a:noFill/>
                    </a:lnT>
                    <a:lnB>
                      <a:noFill/>
                    </a:lnB>
                    <a:noFill/>
                  </a:tcPr>
                </a:tc>
                <a:tc>
                  <a:txBody>
                    <a:bodyPr/>
                    <a:lstStyle/>
                    <a:p>
                      <a:pPr>
                        <a:buNone/>
                      </a:pPr>
                      <a:r>
                        <a:rPr lang="en-IN" sz="2400" dirty="0"/>
                        <a:t>Data Processing &amp; Analysis</a:t>
                      </a:r>
                    </a:p>
                  </a:txBody>
                  <a:tcPr anchor="ctr">
                    <a:lnL>
                      <a:noFill/>
                    </a:lnL>
                    <a:lnR>
                      <a:noFill/>
                    </a:lnR>
                    <a:lnT>
                      <a:noFill/>
                    </a:lnT>
                    <a:lnB>
                      <a:noFill/>
                    </a:lnB>
                    <a:noFill/>
                  </a:tcPr>
                </a:tc>
                <a:extLst>
                  <a:ext uri="{0D108BD9-81ED-4DB2-BD59-A6C34878D82A}">
                    <a16:rowId xmlns:a16="http://schemas.microsoft.com/office/drawing/2014/main" val="2664898898"/>
                  </a:ext>
                </a:extLst>
              </a:tr>
              <a:tr h="575008">
                <a:tc>
                  <a:txBody>
                    <a:bodyPr/>
                    <a:lstStyle/>
                    <a:p>
                      <a:pPr>
                        <a:buNone/>
                      </a:pPr>
                      <a:r>
                        <a:rPr lang="en-IN" sz="2400" dirty="0"/>
                        <a:t>🔢 NumPy</a:t>
                      </a:r>
                    </a:p>
                  </a:txBody>
                  <a:tcPr anchor="ctr">
                    <a:lnL>
                      <a:noFill/>
                    </a:lnL>
                    <a:lnR>
                      <a:noFill/>
                    </a:lnR>
                    <a:lnT>
                      <a:noFill/>
                    </a:lnT>
                    <a:lnB>
                      <a:noFill/>
                    </a:lnB>
                    <a:noFill/>
                  </a:tcPr>
                </a:tc>
                <a:tc>
                  <a:txBody>
                    <a:bodyPr/>
                    <a:lstStyle/>
                    <a:p>
                      <a:pPr>
                        <a:buNone/>
                      </a:pPr>
                      <a:r>
                        <a:rPr lang="en-IN" sz="2400" dirty="0"/>
                        <a:t>Numerical Computations</a:t>
                      </a:r>
                    </a:p>
                  </a:txBody>
                  <a:tcPr anchor="ctr">
                    <a:lnL>
                      <a:noFill/>
                    </a:lnL>
                    <a:lnR>
                      <a:noFill/>
                    </a:lnR>
                    <a:lnT>
                      <a:noFill/>
                    </a:lnT>
                    <a:lnB>
                      <a:noFill/>
                    </a:lnB>
                    <a:noFill/>
                  </a:tcPr>
                </a:tc>
                <a:extLst>
                  <a:ext uri="{0D108BD9-81ED-4DB2-BD59-A6C34878D82A}">
                    <a16:rowId xmlns:a16="http://schemas.microsoft.com/office/drawing/2014/main" val="2533994970"/>
                  </a:ext>
                </a:extLst>
              </a:tr>
              <a:tr h="575008">
                <a:tc>
                  <a:txBody>
                    <a:bodyPr/>
                    <a:lstStyle/>
                    <a:p>
                      <a:pPr>
                        <a:buNone/>
                      </a:pPr>
                      <a:r>
                        <a:rPr lang="en-IN" sz="2400" dirty="0"/>
                        <a:t>🤖 Scikit-learn</a:t>
                      </a:r>
                    </a:p>
                  </a:txBody>
                  <a:tcPr anchor="ctr">
                    <a:lnL>
                      <a:noFill/>
                    </a:lnL>
                    <a:lnR>
                      <a:noFill/>
                    </a:lnR>
                    <a:lnT>
                      <a:noFill/>
                    </a:lnT>
                    <a:lnB>
                      <a:noFill/>
                    </a:lnB>
                    <a:noFill/>
                  </a:tcPr>
                </a:tc>
                <a:tc>
                  <a:txBody>
                    <a:bodyPr/>
                    <a:lstStyle/>
                    <a:p>
                      <a:pPr>
                        <a:buNone/>
                      </a:pPr>
                      <a:r>
                        <a:rPr lang="en-IN" sz="2400" dirty="0"/>
                        <a:t>Machine Learning Model</a:t>
                      </a:r>
                    </a:p>
                  </a:txBody>
                  <a:tcPr anchor="ctr">
                    <a:lnL>
                      <a:noFill/>
                    </a:lnL>
                    <a:lnR>
                      <a:noFill/>
                    </a:lnR>
                    <a:lnT>
                      <a:noFill/>
                    </a:lnT>
                    <a:lnB>
                      <a:noFill/>
                    </a:lnB>
                    <a:noFill/>
                  </a:tcPr>
                </a:tc>
                <a:extLst>
                  <a:ext uri="{0D108BD9-81ED-4DB2-BD59-A6C34878D82A}">
                    <a16:rowId xmlns:a16="http://schemas.microsoft.com/office/drawing/2014/main" val="3237086046"/>
                  </a:ext>
                </a:extLst>
              </a:tr>
              <a:tr h="575008">
                <a:tc>
                  <a:txBody>
                    <a:bodyPr/>
                    <a:lstStyle/>
                    <a:p>
                      <a:pPr>
                        <a:buNone/>
                      </a:pPr>
                      <a:r>
                        <a:rPr lang="en-IN" sz="2400" dirty="0"/>
                        <a:t>💾 </a:t>
                      </a:r>
                      <a:r>
                        <a:rPr lang="en-IN" sz="2400" dirty="0" err="1"/>
                        <a:t>Joblib</a:t>
                      </a:r>
                      <a:endParaRPr lang="en-IN" sz="2400" dirty="0"/>
                    </a:p>
                  </a:txBody>
                  <a:tcPr anchor="ctr">
                    <a:lnL>
                      <a:noFill/>
                    </a:lnL>
                    <a:lnR>
                      <a:noFill/>
                    </a:lnR>
                    <a:lnT>
                      <a:noFill/>
                    </a:lnT>
                    <a:lnB>
                      <a:noFill/>
                    </a:lnB>
                    <a:noFill/>
                  </a:tcPr>
                </a:tc>
                <a:tc>
                  <a:txBody>
                    <a:bodyPr/>
                    <a:lstStyle/>
                    <a:p>
                      <a:pPr>
                        <a:buNone/>
                      </a:pPr>
                      <a:r>
                        <a:rPr lang="en-IN" sz="2400" dirty="0"/>
                        <a:t>Saving &amp; Loading Trained Model</a:t>
                      </a:r>
                    </a:p>
                  </a:txBody>
                  <a:tcPr anchor="ctr">
                    <a:lnL>
                      <a:noFill/>
                    </a:lnL>
                    <a:lnR>
                      <a:noFill/>
                    </a:lnR>
                    <a:lnT>
                      <a:noFill/>
                    </a:lnT>
                    <a:lnB>
                      <a:noFill/>
                    </a:lnB>
                    <a:noFill/>
                  </a:tcPr>
                </a:tc>
                <a:extLst>
                  <a:ext uri="{0D108BD9-81ED-4DB2-BD59-A6C34878D82A}">
                    <a16:rowId xmlns:a16="http://schemas.microsoft.com/office/drawing/2014/main" val="1138281449"/>
                  </a:ext>
                </a:extLst>
              </a:tr>
              <a:tr h="575008">
                <a:tc>
                  <a:txBody>
                    <a:bodyPr/>
                    <a:lstStyle/>
                    <a:p>
                      <a:pPr>
                        <a:buNone/>
                      </a:pPr>
                      <a:r>
                        <a:rPr lang="en-IN" sz="2400" dirty="0"/>
                        <a:t>🌳 Random Forest</a:t>
                      </a:r>
                    </a:p>
                  </a:txBody>
                  <a:tcPr anchor="ctr">
                    <a:lnL>
                      <a:noFill/>
                    </a:lnL>
                    <a:lnR>
                      <a:noFill/>
                    </a:lnR>
                    <a:lnT>
                      <a:noFill/>
                    </a:lnT>
                    <a:lnB>
                      <a:noFill/>
                    </a:lnB>
                    <a:noFill/>
                  </a:tcPr>
                </a:tc>
                <a:tc>
                  <a:txBody>
                    <a:bodyPr/>
                    <a:lstStyle/>
                    <a:p>
                      <a:pPr>
                        <a:buNone/>
                      </a:pPr>
                      <a:r>
                        <a:rPr lang="en-IN" sz="2400" dirty="0"/>
                        <a:t>Prediction Algorithm</a:t>
                      </a:r>
                    </a:p>
                  </a:txBody>
                  <a:tcPr anchor="ctr">
                    <a:lnL>
                      <a:noFill/>
                    </a:lnL>
                    <a:lnR>
                      <a:noFill/>
                    </a:lnR>
                    <a:lnT>
                      <a:noFill/>
                    </a:lnT>
                    <a:lnB>
                      <a:noFill/>
                    </a:lnB>
                    <a:noFill/>
                  </a:tcPr>
                </a:tc>
                <a:extLst>
                  <a:ext uri="{0D108BD9-81ED-4DB2-BD59-A6C34878D82A}">
                    <a16:rowId xmlns:a16="http://schemas.microsoft.com/office/drawing/2014/main" val="3775248488"/>
                  </a:ext>
                </a:extLst>
              </a:tr>
              <a:tr h="575008">
                <a:tc>
                  <a:txBody>
                    <a:bodyPr/>
                    <a:lstStyle/>
                    <a:p>
                      <a:pPr>
                        <a:buNone/>
                      </a:pPr>
                      <a:r>
                        <a:rPr lang="en-IN" sz="2400" dirty="0"/>
                        <a:t>💻 VS Code</a:t>
                      </a:r>
                    </a:p>
                  </a:txBody>
                  <a:tcPr anchor="ctr">
                    <a:lnL>
                      <a:noFill/>
                    </a:lnL>
                    <a:lnR>
                      <a:noFill/>
                    </a:lnR>
                    <a:lnT>
                      <a:noFill/>
                    </a:lnT>
                    <a:lnB>
                      <a:noFill/>
                    </a:lnB>
                    <a:noFill/>
                  </a:tcPr>
                </a:tc>
                <a:tc>
                  <a:txBody>
                    <a:bodyPr/>
                    <a:lstStyle/>
                    <a:p>
                      <a:pPr>
                        <a:buNone/>
                      </a:pPr>
                      <a:r>
                        <a:rPr lang="en-IN" sz="2400" dirty="0"/>
                        <a:t>Development Environment</a:t>
                      </a:r>
                    </a:p>
                  </a:txBody>
                  <a:tcPr anchor="ctr">
                    <a:lnL>
                      <a:noFill/>
                    </a:lnL>
                    <a:lnR>
                      <a:noFill/>
                    </a:lnR>
                    <a:lnT>
                      <a:noFill/>
                    </a:lnT>
                    <a:lnB>
                      <a:noFill/>
                    </a:lnB>
                    <a:noFill/>
                  </a:tcPr>
                </a:tc>
                <a:extLst>
                  <a:ext uri="{0D108BD9-81ED-4DB2-BD59-A6C34878D82A}">
                    <a16:rowId xmlns:a16="http://schemas.microsoft.com/office/drawing/2014/main" val="904446582"/>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3"/>
            <a:stretch>
              <a:fillRect l="-15597" r="-15597"/>
            </a:stretch>
          </a:blipFill>
        </p:spPr>
        <p:txBody>
          <a:bodyPr/>
          <a:lstStyle/>
          <a:p>
            <a:endParaRPr lang="en-IN"/>
          </a:p>
        </p:txBody>
      </p:sp>
      <p:grpSp>
        <p:nvGrpSpPr>
          <p:cNvPr id="3" name="Group 3"/>
          <p:cNvGrpSpPr/>
          <p:nvPr/>
        </p:nvGrpSpPr>
        <p:grpSpPr>
          <a:xfrm>
            <a:off x="990600" y="1028700"/>
            <a:ext cx="16229114" cy="8229600"/>
            <a:chOff x="0" y="0"/>
            <a:chExt cx="4274335" cy="2167467"/>
          </a:xfrm>
        </p:grpSpPr>
        <p:sp>
          <p:nvSpPr>
            <p:cNvPr id="4" name="Freeform 4"/>
            <p:cNvSpPr/>
            <p:nvPr/>
          </p:nvSpPr>
          <p:spPr>
            <a:xfrm>
              <a:off x="0" y="0"/>
              <a:ext cx="4274334" cy="2167467"/>
            </a:xfrm>
            <a:custGeom>
              <a:avLst/>
              <a:gdLst/>
              <a:ahLst/>
              <a:cxnLst/>
              <a:rect l="l" t="t" r="r" b="b"/>
              <a:pathLst>
                <a:path w="4274334" h="2167467">
                  <a:moveTo>
                    <a:pt x="0" y="0"/>
                  </a:moveTo>
                  <a:lnTo>
                    <a:pt x="4274334" y="0"/>
                  </a:lnTo>
                  <a:lnTo>
                    <a:pt x="4274334" y="2167467"/>
                  </a:lnTo>
                  <a:lnTo>
                    <a:pt x="0" y="2167467"/>
                  </a:lnTo>
                  <a:close/>
                </a:path>
              </a:pathLst>
            </a:custGeom>
            <a:solidFill>
              <a:srgbClr val="FEFEFE"/>
            </a:solidFill>
          </p:spPr>
          <p:txBody>
            <a:bodyPr/>
            <a:lstStyle/>
            <a:p>
              <a:endParaRPr lang="en-IN"/>
            </a:p>
          </p:txBody>
        </p:sp>
        <p:sp>
          <p:nvSpPr>
            <p:cNvPr id="5" name="TextBox 5"/>
            <p:cNvSpPr txBox="1"/>
            <p:nvPr/>
          </p:nvSpPr>
          <p:spPr>
            <a:xfrm>
              <a:off x="0" y="57150"/>
              <a:ext cx="4274335" cy="2110317"/>
            </a:xfrm>
            <a:prstGeom prst="rect">
              <a:avLst/>
            </a:prstGeom>
          </p:spPr>
          <p:txBody>
            <a:bodyPr lIns="50800" tIns="50800" rIns="50800" bIns="50800" rtlCol="0" anchor="ctr"/>
            <a:lstStyle/>
            <a:p>
              <a:pPr algn="ctr">
                <a:lnSpc>
                  <a:spcPts val="2481"/>
                </a:lnSpc>
              </a:pPr>
              <a:endParaRPr/>
            </a:p>
          </p:txBody>
        </p:sp>
      </p:grpSp>
      <p:sp>
        <p:nvSpPr>
          <p:cNvPr id="6" name="Freeform 6"/>
          <p:cNvSpPr/>
          <p:nvPr/>
        </p:nvSpPr>
        <p:spPr>
          <a:xfrm flipH="1" flipV="1">
            <a:off x="16310046" y="-2312817"/>
            <a:ext cx="8623491" cy="8750775"/>
          </a:xfrm>
          <a:custGeom>
            <a:avLst/>
            <a:gdLst/>
            <a:ahLst/>
            <a:cxnLst/>
            <a:rect l="l" t="t" r="r" b="b"/>
            <a:pathLst>
              <a:path w="8623491" h="8750775">
                <a:moveTo>
                  <a:pt x="8623491" y="8750775"/>
                </a:moveTo>
                <a:lnTo>
                  <a:pt x="0" y="8750775"/>
                </a:lnTo>
                <a:lnTo>
                  <a:pt x="0" y="0"/>
                </a:lnTo>
                <a:lnTo>
                  <a:pt x="8623491" y="0"/>
                </a:lnTo>
                <a:lnTo>
                  <a:pt x="8623491" y="8750775"/>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a:p>
        </p:txBody>
      </p:sp>
      <p:sp>
        <p:nvSpPr>
          <p:cNvPr id="7" name="Freeform 7"/>
          <p:cNvSpPr/>
          <p:nvPr/>
        </p:nvSpPr>
        <p:spPr>
          <a:xfrm>
            <a:off x="-6630940" y="3864288"/>
            <a:ext cx="8623491" cy="8750775"/>
          </a:xfrm>
          <a:custGeom>
            <a:avLst/>
            <a:gdLst/>
            <a:ahLst/>
            <a:cxnLst/>
            <a:rect l="l" t="t" r="r" b="b"/>
            <a:pathLst>
              <a:path w="8623491" h="8750775">
                <a:moveTo>
                  <a:pt x="0" y="0"/>
                </a:moveTo>
                <a:lnTo>
                  <a:pt x="8623491" y="0"/>
                </a:lnTo>
                <a:lnTo>
                  <a:pt x="8623491" y="8750775"/>
                </a:lnTo>
                <a:lnTo>
                  <a:pt x="0" y="8750775"/>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a:p>
        </p:txBody>
      </p:sp>
      <p:sp>
        <p:nvSpPr>
          <p:cNvPr id="8" name="Freeform 8"/>
          <p:cNvSpPr/>
          <p:nvPr/>
        </p:nvSpPr>
        <p:spPr>
          <a:xfrm rot="-10800000">
            <a:off x="6125872" y="9311584"/>
            <a:ext cx="6036256" cy="3303478"/>
          </a:xfrm>
          <a:custGeom>
            <a:avLst/>
            <a:gdLst/>
            <a:ahLst/>
            <a:cxnLst/>
            <a:rect l="l" t="t" r="r" b="b"/>
            <a:pathLst>
              <a:path w="6036256" h="3303478">
                <a:moveTo>
                  <a:pt x="0" y="0"/>
                </a:moveTo>
                <a:lnTo>
                  <a:pt x="6036256" y="0"/>
                </a:lnTo>
                <a:lnTo>
                  <a:pt x="6036256" y="3303479"/>
                </a:lnTo>
                <a:lnTo>
                  <a:pt x="0" y="3303479"/>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IN"/>
          </a:p>
        </p:txBody>
      </p:sp>
      <p:sp>
        <p:nvSpPr>
          <p:cNvPr id="9" name="Freeform 9"/>
          <p:cNvSpPr/>
          <p:nvPr/>
        </p:nvSpPr>
        <p:spPr>
          <a:xfrm>
            <a:off x="9829800" y="3234025"/>
            <a:ext cx="5320070" cy="5005650"/>
          </a:xfrm>
          <a:custGeom>
            <a:avLst/>
            <a:gdLst/>
            <a:ahLst/>
            <a:cxnLst/>
            <a:rect l="l" t="t" r="r" b="b"/>
            <a:pathLst>
              <a:path w="4968108" h="5005650">
                <a:moveTo>
                  <a:pt x="0" y="0"/>
                </a:moveTo>
                <a:lnTo>
                  <a:pt x="4968107" y="0"/>
                </a:lnTo>
                <a:lnTo>
                  <a:pt x="4968107" y="5005650"/>
                </a:lnTo>
                <a:lnTo>
                  <a:pt x="0" y="5005650"/>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IN"/>
          </a:p>
        </p:txBody>
      </p:sp>
      <p:sp>
        <p:nvSpPr>
          <p:cNvPr id="10" name="TextBox 10"/>
          <p:cNvSpPr txBox="1"/>
          <p:nvPr/>
        </p:nvSpPr>
        <p:spPr>
          <a:xfrm>
            <a:off x="4052600" y="1856166"/>
            <a:ext cx="9559952" cy="622360"/>
          </a:xfrm>
          <a:prstGeom prst="rect">
            <a:avLst/>
          </a:prstGeom>
        </p:spPr>
        <p:txBody>
          <a:bodyPr lIns="0" tIns="0" rIns="0" bIns="0" rtlCol="0" anchor="t">
            <a:spAutoFit/>
          </a:bodyPr>
          <a:lstStyle/>
          <a:p>
            <a:pPr algn="ctr">
              <a:lnSpc>
                <a:spcPts val="4400"/>
              </a:lnSpc>
            </a:pPr>
            <a:r>
              <a:rPr lang="en-US" sz="5501" u="sng">
                <a:solidFill>
                  <a:srgbClr val="73098E"/>
                </a:solidFill>
                <a:latin typeface="Roca One"/>
                <a:ea typeface="Roca One"/>
                <a:cs typeface="Roca One"/>
                <a:sym typeface="Roca One"/>
              </a:rPr>
              <a:t>Dataset Overview</a:t>
            </a:r>
          </a:p>
        </p:txBody>
      </p:sp>
      <p:sp>
        <p:nvSpPr>
          <p:cNvPr id="11" name="TextBox 11"/>
          <p:cNvSpPr txBox="1"/>
          <p:nvPr/>
        </p:nvSpPr>
        <p:spPr>
          <a:xfrm>
            <a:off x="2864978" y="2531809"/>
            <a:ext cx="7879222" cy="6779774"/>
          </a:xfrm>
          <a:prstGeom prst="rect">
            <a:avLst/>
          </a:prstGeom>
        </p:spPr>
        <p:txBody>
          <a:bodyPr wrap="square" lIns="0" tIns="0" rIns="0" bIns="0" rtlCol="0" anchor="t">
            <a:spAutoFit/>
          </a:bodyPr>
          <a:lstStyle/>
          <a:p>
            <a:pPr algn="l">
              <a:lnSpc>
                <a:spcPts val="2857"/>
              </a:lnSpc>
            </a:pPr>
            <a:r>
              <a:rPr lang="en-US" sz="2747" b="1" spc="156" dirty="0">
                <a:solidFill>
                  <a:srgbClr val="0D1C38"/>
                </a:solidFill>
                <a:latin typeface="Roboto Bold"/>
                <a:ea typeface="Roboto Bold"/>
                <a:cs typeface="Roboto Bold"/>
                <a:sym typeface="Roboto Bold"/>
              </a:rPr>
              <a:t>Dataset Used:</a:t>
            </a:r>
          </a:p>
          <a:p>
            <a:pPr algn="l">
              <a:lnSpc>
                <a:spcPts val="2857"/>
              </a:lnSpc>
            </a:pPr>
            <a:r>
              <a:rPr lang="en-US" sz="2747" spc="156" dirty="0">
                <a:solidFill>
                  <a:srgbClr val="0D1C38"/>
                </a:solidFill>
                <a:latin typeface="Roboto"/>
                <a:ea typeface="Roboto"/>
                <a:cs typeface="Roboto"/>
                <a:sym typeface="Roboto"/>
              </a:rPr>
              <a:t>IBM HR Analytics Employee Attrition Dataset</a:t>
            </a:r>
          </a:p>
          <a:p>
            <a:pPr algn="l">
              <a:lnSpc>
                <a:spcPts val="2857"/>
              </a:lnSpc>
            </a:pPr>
            <a:r>
              <a:rPr lang="en-US" sz="2800" b="1" spc="156" dirty="0">
                <a:solidFill>
                  <a:srgbClr val="0D1C38"/>
                </a:solidFill>
                <a:latin typeface="Roboto Bold"/>
                <a:ea typeface="Roboto Bold"/>
                <a:cs typeface="Roboto Bold"/>
                <a:sym typeface="Roboto Bold"/>
              </a:rPr>
              <a:t>Dataset Information:</a:t>
            </a:r>
          </a:p>
          <a:p>
            <a:pPr algn="l">
              <a:lnSpc>
                <a:spcPts val="2857"/>
              </a:lnSpc>
            </a:pPr>
            <a:r>
              <a:rPr lang="en-US" sz="2400" spc="156" dirty="0">
                <a:solidFill>
                  <a:srgbClr val="0D1C38"/>
                </a:solidFill>
                <a:latin typeface="Roboto"/>
                <a:ea typeface="Roboto"/>
                <a:cs typeface="Roboto"/>
                <a:sym typeface="Roboto"/>
              </a:rPr>
              <a:t>Total Records: 1,470 Employees</a:t>
            </a:r>
          </a:p>
          <a:p>
            <a:pPr algn="l">
              <a:lnSpc>
                <a:spcPts val="2857"/>
              </a:lnSpc>
            </a:pPr>
            <a:r>
              <a:rPr lang="en-US" sz="2400" spc="156" dirty="0">
                <a:solidFill>
                  <a:srgbClr val="0D1C38"/>
                </a:solidFill>
                <a:latin typeface="Roboto"/>
                <a:ea typeface="Roboto"/>
                <a:cs typeface="Roboto"/>
                <a:sym typeface="Roboto"/>
              </a:rPr>
              <a:t>Input Features: 35 Employee Attributes</a:t>
            </a:r>
          </a:p>
          <a:p>
            <a:pPr algn="l">
              <a:lnSpc>
                <a:spcPts val="2857"/>
              </a:lnSpc>
            </a:pPr>
            <a:r>
              <a:rPr lang="en-US" sz="2400" spc="156" dirty="0">
                <a:solidFill>
                  <a:srgbClr val="0D1C38"/>
                </a:solidFill>
                <a:latin typeface="Roboto"/>
                <a:ea typeface="Roboto"/>
                <a:cs typeface="Roboto"/>
                <a:sym typeface="Roboto"/>
              </a:rPr>
              <a:t>Target Variable: Attrition (Stay / Leave)</a:t>
            </a:r>
          </a:p>
          <a:p>
            <a:pPr algn="l">
              <a:lnSpc>
                <a:spcPts val="2857"/>
              </a:lnSpc>
            </a:pPr>
            <a:r>
              <a:rPr lang="en-US" sz="2747" b="1" spc="156" dirty="0">
                <a:solidFill>
                  <a:srgbClr val="0D1C38"/>
                </a:solidFill>
                <a:latin typeface="Roboto Bold"/>
                <a:ea typeface="Roboto Bold"/>
                <a:cs typeface="Roboto Bold"/>
                <a:sym typeface="Roboto Bold"/>
              </a:rPr>
              <a:t>Key Features:</a:t>
            </a:r>
          </a:p>
          <a:p>
            <a:pPr marL="593267" lvl="1" indent="-296634" algn="l">
              <a:lnSpc>
                <a:spcPts val="2857"/>
              </a:lnSpc>
              <a:buFont typeface="Arial"/>
              <a:buChar char="•"/>
            </a:pPr>
            <a:r>
              <a:rPr lang="en-US" sz="2400" spc="156" dirty="0">
                <a:solidFill>
                  <a:srgbClr val="0D1C38"/>
                </a:solidFill>
                <a:latin typeface="Roboto"/>
                <a:ea typeface="Roboto"/>
                <a:cs typeface="Roboto"/>
                <a:sym typeface="Roboto"/>
              </a:rPr>
              <a:t>Age</a:t>
            </a:r>
            <a:endParaRPr lang="en-US" sz="2000" spc="156" dirty="0">
              <a:solidFill>
                <a:srgbClr val="0D1C38"/>
              </a:solidFill>
              <a:latin typeface="Roboto"/>
              <a:ea typeface="Roboto"/>
              <a:cs typeface="Roboto"/>
              <a:sym typeface="Roboto"/>
            </a:endParaRPr>
          </a:p>
          <a:p>
            <a:pPr marL="593267" lvl="1" indent="-296634" algn="l">
              <a:lnSpc>
                <a:spcPts val="2857"/>
              </a:lnSpc>
              <a:buFont typeface="Arial"/>
              <a:buChar char="•"/>
            </a:pPr>
            <a:r>
              <a:rPr lang="en-US" sz="2400" spc="156" dirty="0">
                <a:solidFill>
                  <a:srgbClr val="0D1C38"/>
                </a:solidFill>
                <a:latin typeface="Roboto"/>
                <a:ea typeface="Roboto"/>
                <a:cs typeface="Roboto"/>
                <a:sym typeface="Roboto"/>
              </a:rPr>
              <a:t>Department</a:t>
            </a:r>
          </a:p>
          <a:p>
            <a:pPr marL="593267" lvl="1" indent="-296634" algn="l">
              <a:lnSpc>
                <a:spcPts val="2857"/>
              </a:lnSpc>
              <a:buFont typeface="Arial"/>
              <a:buChar char="•"/>
            </a:pPr>
            <a:r>
              <a:rPr lang="en-US" sz="2400" spc="156" dirty="0">
                <a:solidFill>
                  <a:srgbClr val="0D1C38"/>
                </a:solidFill>
                <a:latin typeface="Roboto"/>
                <a:ea typeface="Roboto"/>
                <a:cs typeface="Roboto"/>
                <a:sym typeface="Roboto"/>
              </a:rPr>
              <a:t>Job Role</a:t>
            </a:r>
          </a:p>
          <a:p>
            <a:pPr marL="593267" lvl="1" indent="-296634" algn="l">
              <a:lnSpc>
                <a:spcPts val="2857"/>
              </a:lnSpc>
              <a:buFont typeface="Arial"/>
              <a:buChar char="•"/>
            </a:pPr>
            <a:r>
              <a:rPr lang="en-US" sz="2400" spc="156" dirty="0">
                <a:solidFill>
                  <a:srgbClr val="0D1C38"/>
                </a:solidFill>
                <a:latin typeface="Roboto"/>
                <a:ea typeface="Roboto"/>
                <a:cs typeface="Roboto"/>
                <a:sym typeface="Roboto"/>
              </a:rPr>
              <a:t>Monthly Income</a:t>
            </a:r>
          </a:p>
          <a:p>
            <a:pPr marL="593267" lvl="1" indent="-296634" algn="l">
              <a:lnSpc>
                <a:spcPts val="2857"/>
              </a:lnSpc>
              <a:buFont typeface="Arial"/>
              <a:buChar char="•"/>
            </a:pPr>
            <a:r>
              <a:rPr lang="en-US" sz="2400" spc="156" dirty="0">
                <a:solidFill>
                  <a:srgbClr val="0D1C38"/>
                </a:solidFill>
                <a:latin typeface="Roboto"/>
                <a:ea typeface="Roboto"/>
                <a:cs typeface="Roboto"/>
                <a:sym typeface="Roboto"/>
              </a:rPr>
              <a:t>Overtime</a:t>
            </a:r>
          </a:p>
          <a:p>
            <a:pPr marL="593267" lvl="1" indent="-296634" algn="l">
              <a:lnSpc>
                <a:spcPts val="2857"/>
              </a:lnSpc>
              <a:buFont typeface="Arial"/>
              <a:buChar char="•"/>
            </a:pPr>
            <a:r>
              <a:rPr lang="en-US" sz="2400" spc="156" dirty="0">
                <a:solidFill>
                  <a:srgbClr val="0D1C38"/>
                </a:solidFill>
                <a:latin typeface="Roboto"/>
                <a:ea typeface="Roboto"/>
                <a:cs typeface="Roboto"/>
                <a:sym typeface="Roboto"/>
              </a:rPr>
              <a:t>Job Satisfaction</a:t>
            </a:r>
          </a:p>
          <a:p>
            <a:pPr marL="593267" lvl="1" indent="-296634" algn="l">
              <a:lnSpc>
                <a:spcPts val="2857"/>
              </a:lnSpc>
              <a:buFont typeface="Arial"/>
              <a:buChar char="•"/>
            </a:pPr>
            <a:r>
              <a:rPr lang="en-US" sz="2400" spc="156" dirty="0">
                <a:solidFill>
                  <a:srgbClr val="0D1C38"/>
                </a:solidFill>
                <a:latin typeface="Roboto"/>
                <a:ea typeface="Roboto"/>
                <a:cs typeface="Roboto"/>
                <a:sym typeface="Roboto"/>
              </a:rPr>
              <a:t>Work-Life Balance</a:t>
            </a:r>
          </a:p>
          <a:p>
            <a:pPr marL="593267" lvl="1" indent="-296634" algn="l">
              <a:lnSpc>
                <a:spcPts val="2857"/>
              </a:lnSpc>
              <a:buFont typeface="Arial"/>
              <a:buChar char="•"/>
            </a:pPr>
            <a:r>
              <a:rPr lang="en-US" sz="2400" spc="156" dirty="0">
                <a:solidFill>
                  <a:srgbClr val="0D1C38"/>
                </a:solidFill>
                <a:latin typeface="Roboto"/>
                <a:ea typeface="Roboto"/>
                <a:cs typeface="Roboto"/>
                <a:sym typeface="Roboto"/>
              </a:rPr>
              <a:t>Total Working Years</a:t>
            </a:r>
          </a:p>
          <a:p>
            <a:pPr marL="593267" lvl="1" indent="-296634" algn="l">
              <a:lnSpc>
                <a:spcPts val="2857"/>
              </a:lnSpc>
              <a:buFont typeface="Arial"/>
              <a:buChar char="•"/>
            </a:pPr>
            <a:r>
              <a:rPr lang="en-US" sz="2400" spc="156" dirty="0">
                <a:solidFill>
                  <a:srgbClr val="0D1C38"/>
                </a:solidFill>
                <a:latin typeface="Roboto"/>
                <a:ea typeface="Roboto"/>
                <a:cs typeface="Roboto"/>
                <a:sym typeface="Roboto"/>
              </a:rPr>
              <a:t>Years at Company</a:t>
            </a:r>
          </a:p>
          <a:p>
            <a:pPr marL="593267" lvl="1" indent="-296634" algn="l">
              <a:lnSpc>
                <a:spcPts val="2857"/>
              </a:lnSpc>
              <a:buFont typeface="Arial"/>
              <a:buChar char="•"/>
            </a:pPr>
            <a:r>
              <a:rPr lang="en-US" sz="2400" spc="156" dirty="0">
                <a:solidFill>
                  <a:srgbClr val="0D1C38"/>
                </a:solidFill>
                <a:latin typeface="Roboto"/>
                <a:ea typeface="Roboto"/>
                <a:cs typeface="Roboto"/>
                <a:sym typeface="Roboto"/>
              </a:rPr>
              <a:t>Performance Rating</a:t>
            </a:r>
          </a:p>
          <a:p>
            <a:pPr algn="l">
              <a:lnSpc>
                <a:spcPts val="2857"/>
              </a:lnSpc>
            </a:pPr>
            <a:endParaRPr lang="en-US" sz="2747" spc="156" dirty="0">
              <a:solidFill>
                <a:srgbClr val="0D1C38"/>
              </a:solidFill>
              <a:latin typeface="Roboto"/>
              <a:ea typeface="Roboto"/>
              <a:cs typeface="Roboto"/>
              <a:sym typeface="Roboto"/>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2"/>
            <a:stretch>
              <a:fillRect l="-15597" r="-15597"/>
            </a:stretch>
          </a:blipFill>
        </p:spPr>
        <p:txBody>
          <a:bodyPr/>
          <a:lstStyle/>
          <a:p>
            <a:endParaRPr lang="en-IN"/>
          </a:p>
        </p:txBody>
      </p:sp>
      <p:grpSp>
        <p:nvGrpSpPr>
          <p:cNvPr id="3" name="Group 3"/>
          <p:cNvGrpSpPr/>
          <p:nvPr/>
        </p:nvGrpSpPr>
        <p:grpSpPr>
          <a:xfrm>
            <a:off x="1030186" y="919587"/>
            <a:ext cx="16229114" cy="8229600"/>
            <a:chOff x="0" y="0"/>
            <a:chExt cx="4274335" cy="2167467"/>
          </a:xfrm>
        </p:grpSpPr>
        <p:sp>
          <p:nvSpPr>
            <p:cNvPr id="4" name="Freeform 4"/>
            <p:cNvSpPr/>
            <p:nvPr/>
          </p:nvSpPr>
          <p:spPr>
            <a:xfrm>
              <a:off x="0" y="0"/>
              <a:ext cx="4274334" cy="2167467"/>
            </a:xfrm>
            <a:custGeom>
              <a:avLst/>
              <a:gdLst/>
              <a:ahLst/>
              <a:cxnLst/>
              <a:rect l="l" t="t" r="r" b="b"/>
              <a:pathLst>
                <a:path w="4274334" h="2167467">
                  <a:moveTo>
                    <a:pt x="0" y="0"/>
                  </a:moveTo>
                  <a:lnTo>
                    <a:pt x="4274334" y="0"/>
                  </a:lnTo>
                  <a:lnTo>
                    <a:pt x="4274334" y="2167467"/>
                  </a:lnTo>
                  <a:lnTo>
                    <a:pt x="0" y="2167467"/>
                  </a:lnTo>
                  <a:close/>
                </a:path>
              </a:pathLst>
            </a:custGeom>
            <a:solidFill>
              <a:srgbClr val="FEFEFE"/>
            </a:solidFill>
          </p:spPr>
          <p:txBody>
            <a:bodyPr/>
            <a:lstStyle/>
            <a:p>
              <a:endParaRPr lang="en-IN"/>
            </a:p>
          </p:txBody>
        </p:sp>
        <p:sp>
          <p:nvSpPr>
            <p:cNvPr id="5" name="TextBox 5"/>
            <p:cNvSpPr txBox="1"/>
            <p:nvPr/>
          </p:nvSpPr>
          <p:spPr>
            <a:xfrm>
              <a:off x="0" y="57150"/>
              <a:ext cx="4274335" cy="2110317"/>
            </a:xfrm>
            <a:prstGeom prst="rect">
              <a:avLst/>
            </a:prstGeom>
          </p:spPr>
          <p:txBody>
            <a:bodyPr lIns="50800" tIns="50800" rIns="50800" bIns="50800" rtlCol="0" anchor="ctr"/>
            <a:lstStyle/>
            <a:p>
              <a:pPr algn="ctr">
                <a:lnSpc>
                  <a:spcPts val="2481"/>
                </a:lnSpc>
              </a:pPr>
              <a:endParaRPr/>
            </a:p>
          </p:txBody>
        </p:sp>
      </p:grpSp>
      <p:sp>
        <p:nvSpPr>
          <p:cNvPr id="6" name="Freeform 6"/>
          <p:cNvSpPr/>
          <p:nvPr/>
        </p:nvSpPr>
        <p:spPr>
          <a:xfrm flipH="1" flipV="1">
            <a:off x="16310046" y="-2312817"/>
            <a:ext cx="8623491" cy="8750775"/>
          </a:xfrm>
          <a:custGeom>
            <a:avLst/>
            <a:gdLst/>
            <a:ahLst/>
            <a:cxnLst/>
            <a:rect l="l" t="t" r="r" b="b"/>
            <a:pathLst>
              <a:path w="8623491" h="8750775">
                <a:moveTo>
                  <a:pt x="8623491" y="8750775"/>
                </a:moveTo>
                <a:lnTo>
                  <a:pt x="0" y="8750775"/>
                </a:lnTo>
                <a:lnTo>
                  <a:pt x="0" y="0"/>
                </a:lnTo>
                <a:lnTo>
                  <a:pt x="8623491" y="0"/>
                </a:lnTo>
                <a:lnTo>
                  <a:pt x="8623491" y="8750775"/>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7" name="Freeform 7"/>
          <p:cNvSpPr/>
          <p:nvPr/>
        </p:nvSpPr>
        <p:spPr>
          <a:xfrm>
            <a:off x="-6630940" y="3864288"/>
            <a:ext cx="8623491" cy="8750775"/>
          </a:xfrm>
          <a:custGeom>
            <a:avLst/>
            <a:gdLst/>
            <a:ahLst/>
            <a:cxnLst/>
            <a:rect l="l" t="t" r="r" b="b"/>
            <a:pathLst>
              <a:path w="8623491" h="8750775">
                <a:moveTo>
                  <a:pt x="0" y="0"/>
                </a:moveTo>
                <a:lnTo>
                  <a:pt x="8623491" y="0"/>
                </a:lnTo>
                <a:lnTo>
                  <a:pt x="8623491" y="8750775"/>
                </a:lnTo>
                <a:lnTo>
                  <a:pt x="0" y="8750775"/>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8" name="Freeform 8"/>
          <p:cNvSpPr/>
          <p:nvPr/>
        </p:nvSpPr>
        <p:spPr>
          <a:xfrm rot="-10800000">
            <a:off x="6125872" y="9311584"/>
            <a:ext cx="6036256" cy="3303478"/>
          </a:xfrm>
          <a:custGeom>
            <a:avLst/>
            <a:gdLst/>
            <a:ahLst/>
            <a:cxnLst/>
            <a:rect l="l" t="t" r="r" b="b"/>
            <a:pathLst>
              <a:path w="6036256" h="3303478">
                <a:moveTo>
                  <a:pt x="0" y="0"/>
                </a:moveTo>
                <a:lnTo>
                  <a:pt x="6036256" y="0"/>
                </a:lnTo>
                <a:lnTo>
                  <a:pt x="6036256" y="3303479"/>
                </a:lnTo>
                <a:lnTo>
                  <a:pt x="0" y="330347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a:p>
        </p:txBody>
      </p:sp>
      <p:sp>
        <p:nvSpPr>
          <p:cNvPr id="9" name="Freeform 9"/>
          <p:cNvSpPr/>
          <p:nvPr/>
        </p:nvSpPr>
        <p:spPr>
          <a:xfrm>
            <a:off x="1028700" y="509993"/>
            <a:ext cx="16465105" cy="9505766"/>
          </a:xfrm>
          <a:custGeom>
            <a:avLst/>
            <a:gdLst/>
            <a:ahLst/>
            <a:cxnLst/>
            <a:rect l="l" t="t" r="r" b="b"/>
            <a:pathLst>
              <a:path w="16465105" h="9505766">
                <a:moveTo>
                  <a:pt x="0" y="0"/>
                </a:moveTo>
                <a:lnTo>
                  <a:pt x="16465105" y="0"/>
                </a:lnTo>
                <a:lnTo>
                  <a:pt x="16465105" y="9505766"/>
                </a:lnTo>
                <a:lnTo>
                  <a:pt x="0" y="9505766"/>
                </a:lnTo>
                <a:lnTo>
                  <a:pt x="0" y="0"/>
                </a:lnTo>
                <a:close/>
              </a:path>
            </a:pathLst>
          </a:custGeom>
          <a:blipFill>
            <a:blip r:embed="rId5"/>
            <a:stretch>
              <a:fillRect l="-93435" r="-93435"/>
            </a:stretch>
          </a:blipFill>
        </p:spPr>
        <p:txBody>
          <a:bodyPr/>
          <a:lstStyle/>
          <a:p>
            <a:endParaRPr lang="en-IN"/>
          </a:p>
        </p:txBody>
      </p:sp>
      <p:sp>
        <p:nvSpPr>
          <p:cNvPr id="10" name="TextBox 10"/>
          <p:cNvSpPr txBox="1"/>
          <p:nvPr/>
        </p:nvSpPr>
        <p:spPr>
          <a:xfrm>
            <a:off x="4634359" y="2062571"/>
            <a:ext cx="8623492" cy="7536772"/>
          </a:xfrm>
          <a:prstGeom prst="rect">
            <a:avLst/>
          </a:prstGeom>
        </p:spPr>
        <p:txBody>
          <a:bodyPr wrap="square" lIns="0" tIns="0" rIns="0" bIns="0" rtlCol="0" anchor="t">
            <a:spAutoFit/>
          </a:bodyPr>
          <a:lstStyle/>
          <a:p>
            <a:pPr algn="ctr">
              <a:lnSpc>
                <a:spcPts val="1482"/>
              </a:lnSpc>
              <a:spcBef>
                <a:spcPct val="0"/>
              </a:spcBef>
            </a:pPr>
            <a:r>
              <a:rPr lang="en-US" sz="1482" b="1" spc="22" dirty="0">
                <a:solidFill>
                  <a:srgbClr val="0D1C38"/>
                </a:solidFill>
                <a:latin typeface="Assistant Bold"/>
                <a:ea typeface="Assistant Bold"/>
                <a:cs typeface="Assistant Bold"/>
                <a:sym typeface="Assistant Bold"/>
              </a:rPr>
              <a:t>┌────────────────────────┐</a:t>
            </a:r>
          </a:p>
          <a:p>
            <a:pPr algn="ctr">
              <a:lnSpc>
                <a:spcPts val="1982"/>
              </a:lnSpc>
              <a:spcBef>
                <a:spcPct val="0"/>
              </a:spcBef>
            </a:pPr>
            <a:r>
              <a:rPr lang="en-US" sz="1982" b="1" spc="29" dirty="0">
                <a:solidFill>
                  <a:srgbClr val="0D1C38"/>
                </a:solidFill>
                <a:latin typeface="Assistant Bold"/>
                <a:ea typeface="Assistant Bold"/>
                <a:cs typeface="Assistant Bold"/>
                <a:sym typeface="Assistant Bold"/>
              </a:rPr>
              <a:t>│ Employee Details       │</a:t>
            </a:r>
          </a:p>
          <a:p>
            <a:pPr algn="ctr">
              <a:lnSpc>
                <a:spcPts val="1482"/>
              </a:lnSpc>
              <a:spcBef>
                <a:spcPct val="0"/>
              </a:spcBef>
            </a:pPr>
            <a:r>
              <a:rPr lang="en-US" sz="1482" b="1" spc="22" dirty="0">
                <a:solidFill>
                  <a:srgbClr val="0D1C38"/>
                </a:solidFill>
                <a:latin typeface="Assistant Bold"/>
                <a:ea typeface="Assistant Bold"/>
                <a:cs typeface="Assistant Bold"/>
                <a:sym typeface="Assistant Bold"/>
              </a:rPr>
              <a:t>└────────────────────────┘</a:t>
            </a:r>
          </a:p>
          <a:p>
            <a:pPr algn="ctr">
              <a:lnSpc>
                <a:spcPts val="1582"/>
              </a:lnSpc>
              <a:spcBef>
                <a:spcPct val="0"/>
              </a:spcBef>
            </a:pPr>
            <a:r>
              <a:rPr lang="en-US" sz="1582" b="1" spc="23" dirty="0">
                <a:solidFill>
                  <a:srgbClr val="0D1C38"/>
                </a:solidFill>
                <a:latin typeface="Assistant Bold"/>
                <a:ea typeface="Assistant Bold"/>
                <a:cs typeface="Assistant Bold"/>
                <a:sym typeface="Assistant Bold"/>
              </a:rPr>
              <a:t>            ↓</a:t>
            </a:r>
          </a:p>
          <a:p>
            <a:pPr algn="ctr">
              <a:lnSpc>
                <a:spcPts val="1482"/>
              </a:lnSpc>
              <a:spcBef>
                <a:spcPct val="0"/>
              </a:spcBef>
            </a:pPr>
            <a:r>
              <a:rPr lang="en-US" sz="1482" b="1" spc="22" dirty="0">
                <a:solidFill>
                  <a:srgbClr val="0D1C38"/>
                </a:solidFill>
                <a:latin typeface="Assistant Bold"/>
                <a:ea typeface="Assistant Bold"/>
                <a:cs typeface="Assistant Bold"/>
                <a:sym typeface="Assistant Bold"/>
              </a:rPr>
              <a:t>┌────────────────────────┐</a:t>
            </a:r>
          </a:p>
          <a:p>
            <a:pPr algn="ctr">
              <a:lnSpc>
                <a:spcPts val="1982"/>
              </a:lnSpc>
              <a:spcBef>
                <a:spcPct val="0"/>
              </a:spcBef>
            </a:pPr>
            <a:r>
              <a:rPr lang="en-US" sz="1982" b="1" spc="29" dirty="0">
                <a:solidFill>
                  <a:srgbClr val="0D1C38"/>
                </a:solidFill>
                <a:latin typeface="Assistant Bold"/>
                <a:ea typeface="Assistant Bold"/>
                <a:cs typeface="Assistant Bold"/>
                <a:sym typeface="Assistant Bold"/>
              </a:rPr>
              <a:t>│ Input Validation       │</a:t>
            </a:r>
          </a:p>
          <a:p>
            <a:pPr algn="ctr">
              <a:lnSpc>
                <a:spcPts val="1482"/>
              </a:lnSpc>
              <a:spcBef>
                <a:spcPct val="0"/>
              </a:spcBef>
            </a:pPr>
            <a:r>
              <a:rPr lang="en-US" sz="1482" b="1" spc="22" dirty="0">
                <a:solidFill>
                  <a:srgbClr val="0D1C38"/>
                </a:solidFill>
                <a:latin typeface="Assistant Bold"/>
                <a:ea typeface="Assistant Bold"/>
                <a:cs typeface="Assistant Bold"/>
                <a:sym typeface="Assistant Bold"/>
              </a:rPr>
              <a:t>└────────────────────────┘</a:t>
            </a:r>
          </a:p>
          <a:p>
            <a:pPr algn="ctr">
              <a:lnSpc>
                <a:spcPts val="1482"/>
              </a:lnSpc>
              <a:spcBef>
                <a:spcPct val="0"/>
              </a:spcBef>
            </a:pPr>
            <a:r>
              <a:rPr lang="en-US" sz="1482" b="1" spc="22" dirty="0">
                <a:solidFill>
                  <a:srgbClr val="0D1C38"/>
                </a:solidFill>
                <a:latin typeface="Assistant Bold"/>
                <a:ea typeface="Assistant Bold"/>
                <a:cs typeface="Assistant Bold"/>
                <a:sym typeface="Assistant Bold"/>
              </a:rPr>
              <a:t>            ↓</a:t>
            </a:r>
          </a:p>
          <a:p>
            <a:pPr algn="ctr">
              <a:lnSpc>
                <a:spcPts val="1482"/>
              </a:lnSpc>
              <a:spcBef>
                <a:spcPct val="0"/>
              </a:spcBef>
            </a:pPr>
            <a:r>
              <a:rPr lang="en-US" sz="1482" b="1" spc="22" dirty="0">
                <a:solidFill>
                  <a:srgbClr val="0D1C38"/>
                </a:solidFill>
                <a:latin typeface="Assistant Bold"/>
                <a:ea typeface="Assistant Bold"/>
                <a:cs typeface="Assistant Bold"/>
                <a:sym typeface="Assistant Bold"/>
              </a:rPr>
              <a:t>┌────────────────────────┐</a:t>
            </a:r>
          </a:p>
          <a:p>
            <a:pPr algn="ctr">
              <a:lnSpc>
                <a:spcPts val="1982"/>
              </a:lnSpc>
              <a:spcBef>
                <a:spcPct val="0"/>
              </a:spcBef>
            </a:pPr>
            <a:r>
              <a:rPr lang="en-US" sz="1982" b="1" spc="29" dirty="0">
                <a:solidFill>
                  <a:srgbClr val="0D1C38"/>
                </a:solidFill>
                <a:latin typeface="Assistant Bold"/>
                <a:ea typeface="Assistant Bold"/>
                <a:cs typeface="Assistant Bold"/>
                <a:sym typeface="Assistant Bold"/>
              </a:rPr>
              <a:t>│ Data Preprocessing     │</a:t>
            </a:r>
          </a:p>
          <a:p>
            <a:pPr algn="ctr">
              <a:lnSpc>
                <a:spcPts val="1482"/>
              </a:lnSpc>
              <a:spcBef>
                <a:spcPct val="0"/>
              </a:spcBef>
            </a:pPr>
            <a:r>
              <a:rPr lang="en-US" sz="1482" b="1" spc="22" dirty="0">
                <a:solidFill>
                  <a:srgbClr val="0D1C38"/>
                </a:solidFill>
                <a:latin typeface="Assistant Bold"/>
                <a:ea typeface="Assistant Bold"/>
                <a:cs typeface="Assistant Bold"/>
                <a:sym typeface="Assistant Bold"/>
              </a:rPr>
              <a:t>└────────────────────────┘</a:t>
            </a:r>
          </a:p>
          <a:p>
            <a:pPr algn="ctr">
              <a:lnSpc>
                <a:spcPts val="1482"/>
              </a:lnSpc>
              <a:spcBef>
                <a:spcPct val="0"/>
              </a:spcBef>
            </a:pPr>
            <a:r>
              <a:rPr lang="en-US" sz="1482" b="1" spc="22" dirty="0">
                <a:solidFill>
                  <a:srgbClr val="0D1C38"/>
                </a:solidFill>
                <a:latin typeface="Assistant Bold"/>
                <a:ea typeface="Assistant Bold"/>
                <a:cs typeface="Assistant Bold"/>
                <a:sym typeface="Assistant Bold"/>
              </a:rPr>
              <a:t>            ↓</a:t>
            </a:r>
          </a:p>
          <a:p>
            <a:pPr algn="ctr">
              <a:lnSpc>
                <a:spcPts val="1482"/>
              </a:lnSpc>
              <a:spcBef>
                <a:spcPct val="0"/>
              </a:spcBef>
            </a:pPr>
            <a:r>
              <a:rPr lang="en-US" sz="1482" b="1" spc="22" dirty="0">
                <a:solidFill>
                  <a:srgbClr val="0D1C38"/>
                </a:solidFill>
                <a:latin typeface="Assistant Bold"/>
                <a:ea typeface="Assistant Bold"/>
                <a:cs typeface="Assistant Bold"/>
                <a:sym typeface="Assistant Bold"/>
              </a:rPr>
              <a:t>┌────────────────────────┐</a:t>
            </a:r>
          </a:p>
          <a:p>
            <a:pPr algn="ctr">
              <a:lnSpc>
                <a:spcPts val="1982"/>
              </a:lnSpc>
              <a:spcBef>
                <a:spcPct val="0"/>
              </a:spcBef>
            </a:pPr>
            <a:r>
              <a:rPr lang="en-US" sz="1982" b="1" spc="29" dirty="0">
                <a:solidFill>
                  <a:srgbClr val="0D1C38"/>
                </a:solidFill>
                <a:latin typeface="Assistant Bold"/>
                <a:ea typeface="Assistant Bold"/>
                <a:cs typeface="Assistant Bold"/>
                <a:sym typeface="Assistant Bold"/>
              </a:rPr>
              <a:t>│ Label Encoding         │</a:t>
            </a:r>
          </a:p>
          <a:p>
            <a:pPr algn="ctr">
              <a:lnSpc>
                <a:spcPts val="1482"/>
              </a:lnSpc>
              <a:spcBef>
                <a:spcPct val="0"/>
              </a:spcBef>
            </a:pPr>
            <a:r>
              <a:rPr lang="en-US" sz="1482" b="1" spc="22" dirty="0">
                <a:solidFill>
                  <a:srgbClr val="0D1C38"/>
                </a:solidFill>
                <a:latin typeface="Assistant Bold"/>
                <a:ea typeface="Assistant Bold"/>
                <a:cs typeface="Assistant Bold"/>
                <a:sym typeface="Assistant Bold"/>
              </a:rPr>
              <a:t>└────────────────────────┘</a:t>
            </a:r>
          </a:p>
          <a:p>
            <a:pPr algn="ctr">
              <a:lnSpc>
                <a:spcPts val="1482"/>
              </a:lnSpc>
              <a:spcBef>
                <a:spcPct val="0"/>
              </a:spcBef>
            </a:pPr>
            <a:r>
              <a:rPr lang="en-US" sz="1482" b="1" spc="22" dirty="0">
                <a:solidFill>
                  <a:srgbClr val="0D1C38"/>
                </a:solidFill>
                <a:latin typeface="Assistant Bold"/>
                <a:ea typeface="Assistant Bold"/>
                <a:cs typeface="Assistant Bold"/>
                <a:sym typeface="Assistant Bold"/>
              </a:rPr>
              <a:t>            ↓</a:t>
            </a:r>
          </a:p>
          <a:p>
            <a:pPr algn="ctr">
              <a:lnSpc>
                <a:spcPts val="1482"/>
              </a:lnSpc>
              <a:spcBef>
                <a:spcPct val="0"/>
              </a:spcBef>
            </a:pPr>
            <a:r>
              <a:rPr lang="en-US" sz="1482" b="1" spc="22" dirty="0">
                <a:solidFill>
                  <a:srgbClr val="0D1C38"/>
                </a:solidFill>
                <a:latin typeface="Assistant Bold"/>
                <a:ea typeface="Assistant Bold"/>
                <a:cs typeface="Assistant Bold"/>
                <a:sym typeface="Assistant Bold"/>
              </a:rPr>
              <a:t>┌────────────────────────┐</a:t>
            </a:r>
          </a:p>
          <a:p>
            <a:pPr algn="ctr">
              <a:lnSpc>
                <a:spcPts val="1982"/>
              </a:lnSpc>
              <a:spcBef>
                <a:spcPct val="0"/>
              </a:spcBef>
            </a:pPr>
            <a:r>
              <a:rPr lang="en-US" sz="1982" b="1" spc="29" dirty="0">
                <a:solidFill>
                  <a:srgbClr val="0D1C38"/>
                </a:solidFill>
                <a:latin typeface="Assistant Bold"/>
                <a:ea typeface="Assistant Bold"/>
                <a:cs typeface="Assistant Bold"/>
                <a:sym typeface="Assistant Bold"/>
              </a:rPr>
              <a:t>│ Random Forest Model    │</a:t>
            </a:r>
          </a:p>
          <a:p>
            <a:pPr algn="ctr">
              <a:lnSpc>
                <a:spcPts val="1482"/>
              </a:lnSpc>
              <a:spcBef>
                <a:spcPct val="0"/>
              </a:spcBef>
            </a:pPr>
            <a:r>
              <a:rPr lang="en-US" sz="1482" b="1" spc="22" dirty="0">
                <a:solidFill>
                  <a:srgbClr val="0D1C38"/>
                </a:solidFill>
                <a:latin typeface="Assistant Bold"/>
                <a:ea typeface="Assistant Bold"/>
                <a:cs typeface="Assistant Bold"/>
                <a:sym typeface="Assistant Bold"/>
              </a:rPr>
              <a:t>└────────────────────────┘</a:t>
            </a:r>
          </a:p>
          <a:p>
            <a:pPr algn="ctr">
              <a:lnSpc>
                <a:spcPts val="1482"/>
              </a:lnSpc>
              <a:spcBef>
                <a:spcPct val="0"/>
              </a:spcBef>
            </a:pPr>
            <a:r>
              <a:rPr lang="en-US" sz="1482" b="1" spc="22" dirty="0">
                <a:solidFill>
                  <a:srgbClr val="0D1C38"/>
                </a:solidFill>
                <a:latin typeface="Assistant Bold"/>
                <a:ea typeface="Assistant Bold"/>
                <a:cs typeface="Assistant Bold"/>
                <a:sym typeface="Assistant Bold"/>
              </a:rPr>
              <a:t>            ↓</a:t>
            </a:r>
          </a:p>
          <a:p>
            <a:pPr algn="ctr">
              <a:lnSpc>
                <a:spcPts val="1482"/>
              </a:lnSpc>
              <a:spcBef>
                <a:spcPct val="0"/>
              </a:spcBef>
            </a:pPr>
            <a:r>
              <a:rPr lang="en-US" sz="1482" b="1" spc="22" dirty="0">
                <a:solidFill>
                  <a:srgbClr val="0D1C38"/>
                </a:solidFill>
                <a:latin typeface="Assistant Bold"/>
                <a:ea typeface="Assistant Bold"/>
                <a:cs typeface="Assistant Bold"/>
                <a:sym typeface="Assistant Bold"/>
              </a:rPr>
              <a:t>┌────────────────────────┐</a:t>
            </a:r>
          </a:p>
          <a:p>
            <a:pPr algn="ctr">
              <a:lnSpc>
                <a:spcPts val="1982"/>
              </a:lnSpc>
              <a:spcBef>
                <a:spcPct val="0"/>
              </a:spcBef>
            </a:pPr>
            <a:r>
              <a:rPr lang="en-US" sz="1982" b="1" spc="29" dirty="0">
                <a:solidFill>
                  <a:srgbClr val="0D1C38"/>
                </a:solidFill>
                <a:latin typeface="Assistant Bold"/>
                <a:ea typeface="Assistant Bold"/>
                <a:cs typeface="Assistant Bold"/>
                <a:sym typeface="Assistant Bold"/>
              </a:rPr>
              <a:t>│ Prediction             │</a:t>
            </a:r>
          </a:p>
          <a:p>
            <a:pPr algn="ctr">
              <a:lnSpc>
                <a:spcPts val="1482"/>
              </a:lnSpc>
              <a:spcBef>
                <a:spcPct val="0"/>
              </a:spcBef>
            </a:pPr>
            <a:r>
              <a:rPr lang="en-US" sz="1482" b="1" spc="22" dirty="0">
                <a:solidFill>
                  <a:srgbClr val="0D1C38"/>
                </a:solidFill>
                <a:latin typeface="Assistant Bold"/>
                <a:ea typeface="Assistant Bold"/>
                <a:cs typeface="Assistant Bold"/>
                <a:sym typeface="Assistant Bold"/>
              </a:rPr>
              <a:t>└────────────────────────┘</a:t>
            </a:r>
          </a:p>
          <a:p>
            <a:pPr algn="ctr">
              <a:lnSpc>
                <a:spcPts val="1482"/>
              </a:lnSpc>
              <a:spcBef>
                <a:spcPct val="0"/>
              </a:spcBef>
            </a:pPr>
            <a:r>
              <a:rPr lang="en-US" sz="1482" b="1" spc="22" dirty="0">
                <a:solidFill>
                  <a:srgbClr val="0D1C38"/>
                </a:solidFill>
                <a:latin typeface="Assistant Bold"/>
                <a:ea typeface="Assistant Bold"/>
                <a:cs typeface="Assistant Bold"/>
                <a:sym typeface="Assistant Bold"/>
              </a:rPr>
              <a:t>            ↓</a:t>
            </a:r>
          </a:p>
          <a:p>
            <a:pPr algn="ctr">
              <a:lnSpc>
                <a:spcPts val="1482"/>
              </a:lnSpc>
              <a:spcBef>
                <a:spcPct val="0"/>
              </a:spcBef>
            </a:pPr>
            <a:r>
              <a:rPr lang="en-US" sz="1482" b="1" spc="22" dirty="0">
                <a:solidFill>
                  <a:srgbClr val="0D1C38"/>
                </a:solidFill>
                <a:latin typeface="Assistant Bold"/>
                <a:ea typeface="Assistant Bold"/>
                <a:cs typeface="Assistant Bold"/>
                <a:sym typeface="Assistant Bold"/>
              </a:rPr>
              <a:t>┌────────────────────────┐</a:t>
            </a:r>
          </a:p>
          <a:p>
            <a:pPr algn="ctr">
              <a:lnSpc>
                <a:spcPts val="1982"/>
              </a:lnSpc>
              <a:spcBef>
                <a:spcPct val="0"/>
              </a:spcBef>
            </a:pPr>
            <a:r>
              <a:rPr lang="en-US" sz="1982" b="1" spc="29" dirty="0">
                <a:solidFill>
                  <a:srgbClr val="0D1C38"/>
                </a:solidFill>
                <a:latin typeface="Assistant Bold"/>
                <a:ea typeface="Assistant Bold"/>
                <a:cs typeface="Assistant Bold"/>
                <a:sym typeface="Assistant Bold"/>
              </a:rPr>
              <a:t>│ Confidence Score       │</a:t>
            </a:r>
          </a:p>
          <a:p>
            <a:pPr algn="ctr">
              <a:lnSpc>
                <a:spcPts val="1482"/>
              </a:lnSpc>
              <a:spcBef>
                <a:spcPct val="0"/>
              </a:spcBef>
            </a:pPr>
            <a:r>
              <a:rPr lang="en-US" sz="1482" b="1" spc="22" dirty="0">
                <a:solidFill>
                  <a:srgbClr val="0D1C38"/>
                </a:solidFill>
                <a:latin typeface="Assistant Bold"/>
                <a:ea typeface="Assistant Bold"/>
                <a:cs typeface="Assistant Bold"/>
                <a:sym typeface="Assistant Bold"/>
              </a:rPr>
              <a:t>└────────────────────────┘</a:t>
            </a:r>
          </a:p>
          <a:p>
            <a:pPr algn="ctr">
              <a:lnSpc>
                <a:spcPts val="1482"/>
              </a:lnSpc>
              <a:spcBef>
                <a:spcPct val="0"/>
              </a:spcBef>
            </a:pPr>
            <a:r>
              <a:rPr lang="en-US" sz="1482" b="1" spc="22" dirty="0">
                <a:solidFill>
                  <a:srgbClr val="0D1C38"/>
                </a:solidFill>
                <a:latin typeface="Assistant Bold"/>
                <a:ea typeface="Assistant Bold"/>
                <a:cs typeface="Assistant Bold"/>
                <a:sym typeface="Assistant Bold"/>
              </a:rPr>
              <a:t>            ↓</a:t>
            </a:r>
          </a:p>
          <a:p>
            <a:pPr algn="ctr">
              <a:lnSpc>
                <a:spcPts val="1482"/>
              </a:lnSpc>
              <a:spcBef>
                <a:spcPct val="0"/>
              </a:spcBef>
            </a:pPr>
            <a:r>
              <a:rPr lang="en-US" sz="1482" b="1" spc="22" dirty="0">
                <a:solidFill>
                  <a:srgbClr val="0D1C38"/>
                </a:solidFill>
                <a:latin typeface="Assistant Bold"/>
                <a:ea typeface="Assistant Bold"/>
                <a:cs typeface="Assistant Bold"/>
                <a:sym typeface="Assistant Bold"/>
              </a:rPr>
              <a:t>┌────────────────────────┐</a:t>
            </a:r>
          </a:p>
          <a:p>
            <a:pPr algn="ctr">
              <a:lnSpc>
                <a:spcPts val="1982"/>
              </a:lnSpc>
              <a:spcBef>
                <a:spcPct val="0"/>
              </a:spcBef>
            </a:pPr>
            <a:r>
              <a:rPr lang="en-US" sz="1982" b="1" spc="29" dirty="0">
                <a:solidFill>
                  <a:srgbClr val="0D1C38"/>
                </a:solidFill>
                <a:latin typeface="Assistant Bold"/>
                <a:ea typeface="Assistant Bold"/>
                <a:cs typeface="Assistant Bold"/>
                <a:sym typeface="Assistant Bold"/>
              </a:rPr>
              <a:t>│ HR Recommendation      │</a:t>
            </a:r>
          </a:p>
          <a:p>
            <a:pPr algn="ctr">
              <a:lnSpc>
                <a:spcPts val="1482"/>
              </a:lnSpc>
              <a:spcBef>
                <a:spcPct val="0"/>
              </a:spcBef>
            </a:pPr>
            <a:r>
              <a:rPr lang="en-US" sz="1482" b="1" spc="22" dirty="0">
                <a:solidFill>
                  <a:srgbClr val="0D1C38"/>
                </a:solidFill>
                <a:latin typeface="Assistant Bold"/>
                <a:ea typeface="Assistant Bold"/>
                <a:cs typeface="Assistant Bold"/>
                <a:sym typeface="Assistant Bold"/>
              </a:rPr>
              <a:t>└────────────────────────┘</a:t>
            </a:r>
          </a:p>
          <a:p>
            <a:pPr algn="ctr">
              <a:lnSpc>
                <a:spcPts val="1482"/>
              </a:lnSpc>
              <a:spcBef>
                <a:spcPct val="0"/>
              </a:spcBef>
            </a:pPr>
            <a:r>
              <a:rPr lang="en-US" sz="1482" b="1" spc="22" dirty="0">
                <a:solidFill>
                  <a:srgbClr val="0D1C38"/>
                </a:solidFill>
                <a:latin typeface="Assistant Bold"/>
                <a:ea typeface="Assistant Bold"/>
                <a:cs typeface="Assistant Bold"/>
                <a:sym typeface="Assistant Bold"/>
              </a:rPr>
              <a:t>            ↓</a:t>
            </a:r>
          </a:p>
          <a:p>
            <a:pPr algn="ctr">
              <a:lnSpc>
                <a:spcPts val="1482"/>
              </a:lnSpc>
              <a:spcBef>
                <a:spcPct val="0"/>
              </a:spcBef>
            </a:pPr>
            <a:r>
              <a:rPr lang="en-US" sz="1482" b="1" spc="22" dirty="0">
                <a:solidFill>
                  <a:srgbClr val="0D1C38"/>
                </a:solidFill>
                <a:latin typeface="Assistant Bold"/>
                <a:ea typeface="Assistant Bold"/>
                <a:cs typeface="Assistant Bold"/>
                <a:sym typeface="Assistant Bold"/>
              </a:rPr>
              <a:t>┌────────────────────────┐</a:t>
            </a:r>
          </a:p>
          <a:p>
            <a:pPr algn="ctr">
              <a:lnSpc>
                <a:spcPts val="1982"/>
              </a:lnSpc>
              <a:spcBef>
                <a:spcPct val="0"/>
              </a:spcBef>
            </a:pPr>
            <a:r>
              <a:rPr lang="en-US" sz="1982" b="1" spc="29" dirty="0">
                <a:solidFill>
                  <a:srgbClr val="0D1C38"/>
                </a:solidFill>
                <a:latin typeface="Assistant Bold"/>
                <a:ea typeface="Assistant Bold"/>
                <a:cs typeface="Assistant Bold"/>
                <a:sym typeface="Assistant Bold"/>
              </a:rPr>
              <a:t>│ Download Report        │</a:t>
            </a:r>
          </a:p>
          <a:p>
            <a:pPr algn="ctr">
              <a:lnSpc>
                <a:spcPts val="1482"/>
              </a:lnSpc>
              <a:spcBef>
                <a:spcPct val="0"/>
              </a:spcBef>
            </a:pPr>
            <a:r>
              <a:rPr lang="en-US" sz="1482" b="1" spc="22" dirty="0">
                <a:solidFill>
                  <a:srgbClr val="0D1C38"/>
                </a:solidFill>
                <a:latin typeface="Assistant Bold"/>
                <a:ea typeface="Assistant Bold"/>
                <a:cs typeface="Assistant Bold"/>
                <a:sym typeface="Assistant Bold"/>
              </a:rPr>
              <a:t>└────────────────────────┘</a:t>
            </a:r>
          </a:p>
        </p:txBody>
      </p:sp>
      <p:sp>
        <p:nvSpPr>
          <p:cNvPr id="11" name="TextBox 11"/>
          <p:cNvSpPr txBox="1"/>
          <p:nvPr/>
        </p:nvSpPr>
        <p:spPr>
          <a:xfrm>
            <a:off x="6749564" y="1518199"/>
            <a:ext cx="4173885" cy="544371"/>
          </a:xfrm>
          <a:prstGeom prst="rect">
            <a:avLst/>
          </a:prstGeom>
        </p:spPr>
        <p:txBody>
          <a:bodyPr lIns="0" tIns="0" rIns="0" bIns="0" rtlCol="0" anchor="t">
            <a:spAutoFit/>
          </a:bodyPr>
          <a:lstStyle/>
          <a:p>
            <a:pPr algn="ctr">
              <a:lnSpc>
                <a:spcPts val="4181"/>
              </a:lnSpc>
              <a:spcBef>
                <a:spcPct val="0"/>
              </a:spcBef>
            </a:pPr>
            <a:r>
              <a:rPr lang="en-US" sz="3600" b="1" u="sng" spc="62" dirty="0">
                <a:solidFill>
                  <a:srgbClr val="73098E"/>
                </a:solidFill>
                <a:latin typeface="Assistant Bold"/>
                <a:ea typeface="Assistant Bold"/>
                <a:cs typeface="Assistant Bold"/>
                <a:sym typeface="Assistant Bold"/>
              </a:rPr>
              <a:t>System</a:t>
            </a:r>
            <a:r>
              <a:rPr lang="en-US" sz="4181" b="1" u="sng" spc="62" dirty="0">
                <a:solidFill>
                  <a:srgbClr val="73098E"/>
                </a:solidFill>
                <a:latin typeface="Assistant Bold"/>
                <a:ea typeface="Assistant Bold"/>
                <a:cs typeface="Assistant Bold"/>
                <a:sym typeface="Assistant Bold"/>
              </a:rPr>
              <a:t> Workflow</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3"/>
            <a:stretch>
              <a:fillRect l="-15597" r="-15597"/>
            </a:stretch>
          </a:blipFill>
        </p:spPr>
        <p:txBody>
          <a:bodyPr/>
          <a:lstStyle/>
          <a:p>
            <a:endParaRPr lang="en-IN"/>
          </a:p>
        </p:txBody>
      </p:sp>
      <p:grpSp>
        <p:nvGrpSpPr>
          <p:cNvPr id="3" name="Group 3"/>
          <p:cNvGrpSpPr/>
          <p:nvPr/>
        </p:nvGrpSpPr>
        <p:grpSpPr>
          <a:xfrm>
            <a:off x="1029443" y="1028700"/>
            <a:ext cx="16229114" cy="8229600"/>
            <a:chOff x="0" y="0"/>
            <a:chExt cx="4274335" cy="2167467"/>
          </a:xfrm>
        </p:grpSpPr>
        <p:sp>
          <p:nvSpPr>
            <p:cNvPr id="4" name="Freeform 4"/>
            <p:cNvSpPr/>
            <p:nvPr/>
          </p:nvSpPr>
          <p:spPr>
            <a:xfrm>
              <a:off x="0" y="0"/>
              <a:ext cx="4274334" cy="2167467"/>
            </a:xfrm>
            <a:custGeom>
              <a:avLst/>
              <a:gdLst/>
              <a:ahLst/>
              <a:cxnLst/>
              <a:rect l="l" t="t" r="r" b="b"/>
              <a:pathLst>
                <a:path w="4274334" h="2167467">
                  <a:moveTo>
                    <a:pt x="0" y="0"/>
                  </a:moveTo>
                  <a:lnTo>
                    <a:pt x="4274334" y="0"/>
                  </a:lnTo>
                  <a:lnTo>
                    <a:pt x="4274334" y="2167467"/>
                  </a:lnTo>
                  <a:lnTo>
                    <a:pt x="0" y="2167467"/>
                  </a:lnTo>
                  <a:close/>
                </a:path>
              </a:pathLst>
            </a:custGeom>
            <a:solidFill>
              <a:srgbClr val="FEFEFE"/>
            </a:solidFill>
          </p:spPr>
          <p:txBody>
            <a:bodyPr/>
            <a:lstStyle/>
            <a:p>
              <a:endParaRPr lang="en-IN"/>
            </a:p>
          </p:txBody>
        </p:sp>
        <p:sp>
          <p:nvSpPr>
            <p:cNvPr id="5" name="TextBox 5"/>
            <p:cNvSpPr txBox="1"/>
            <p:nvPr/>
          </p:nvSpPr>
          <p:spPr>
            <a:xfrm>
              <a:off x="0" y="57150"/>
              <a:ext cx="4274335" cy="2110317"/>
            </a:xfrm>
            <a:prstGeom prst="rect">
              <a:avLst/>
            </a:prstGeom>
          </p:spPr>
          <p:txBody>
            <a:bodyPr lIns="50800" tIns="50800" rIns="50800" bIns="50800" rtlCol="0" anchor="ctr"/>
            <a:lstStyle/>
            <a:p>
              <a:pPr algn="ctr">
                <a:lnSpc>
                  <a:spcPts val="2481"/>
                </a:lnSpc>
              </a:pPr>
              <a:endParaRPr dirty="0"/>
            </a:p>
            <a:p>
              <a:pPr algn="ctr">
                <a:lnSpc>
                  <a:spcPts val="2481"/>
                </a:lnSpc>
              </a:pPr>
              <a:endParaRPr dirty="0"/>
            </a:p>
            <a:p>
              <a:pPr algn="ctr">
                <a:lnSpc>
                  <a:spcPts val="2481"/>
                </a:lnSpc>
              </a:pPr>
              <a:endParaRPr dirty="0"/>
            </a:p>
            <a:p>
              <a:pPr algn="ctr">
                <a:lnSpc>
                  <a:spcPts val="2481"/>
                </a:lnSpc>
              </a:pPr>
              <a:endParaRPr dirty="0"/>
            </a:p>
            <a:p>
              <a:pPr algn="ctr">
                <a:lnSpc>
                  <a:spcPts val="2481"/>
                </a:lnSpc>
              </a:pPr>
              <a:endParaRPr dirty="0"/>
            </a:p>
            <a:p>
              <a:pPr algn="ctr">
                <a:lnSpc>
                  <a:spcPts val="2481"/>
                </a:lnSpc>
              </a:pPr>
              <a:endParaRPr dirty="0"/>
            </a:p>
            <a:p>
              <a:pPr algn="ctr">
                <a:lnSpc>
                  <a:spcPts val="2481"/>
                </a:lnSpc>
              </a:pPr>
              <a:endParaRPr dirty="0"/>
            </a:p>
            <a:p>
              <a:pPr algn="ctr">
                <a:lnSpc>
                  <a:spcPts val="2481"/>
                </a:lnSpc>
              </a:pPr>
              <a:endParaRPr dirty="0"/>
            </a:p>
            <a:p>
              <a:pPr algn="ctr">
                <a:lnSpc>
                  <a:spcPts val="2481"/>
                </a:lnSpc>
              </a:pPr>
              <a:endParaRPr dirty="0"/>
            </a:p>
            <a:p>
              <a:pPr algn="ctr">
                <a:lnSpc>
                  <a:spcPts val="2481"/>
                </a:lnSpc>
              </a:pPr>
              <a:endParaRPr dirty="0"/>
            </a:p>
            <a:p>
              <a:pPr algn="ctr">
                <a:lnSpc>
                  <a:spcPts val="2481"/>
                </a:lnSpc>
              </a:pPr>
              <a:endParaRPr dirty="0"/>
            </a:p>
            <a:p>
              <a:pPr algn="l">
                <a:lnSpc>
                  <a:spcPts val="3081"/>
                </a:lnSpc>
              </a:pPr>
              <a:r>
                <a:rPr lang="en-US" sz="3081" b="1" spc="46" dirty="0">
                  <a:solidFill>
                    <a:srgbClr val="0E182F"/>
                  </a:solidFill>
                  <a:latin typeface="Assistant Bold"/>
                  <a:ea typeface="Assistant Bold"/>
                  <a:cs typeface="Assistant Bold"/>
                  <a:sym typeface="Assistant Bold"/>
                </a:rPr>
                <a:t>Benefits</a:t>
              </a:r>
            </a:p>
            <a:p>
              <a:pPr marL="600630" lvl="1" indent="-300315" algn="just">
                <a:lnSpc>
                  <a:spcPts val="2781"/>
                </a:lnSpc>
                <a:buFont typeface="Arial"/>
                <a:buChar char="•"/>
              </a:pPr>
              <a:r>
                <a:rPr lang="en-US" sz="2400" spc="41" dirty="0">
                  <a:solidFill>
                    <a:srgbClr val="0E182F"/>
                  </a:solidFill>
                  <a:latin typeface="Assistant"/>
                  <a:ea typeface="Assistant"/>
                  <a:cs typeface="Assistant"/>
                  <a:sym typeface="Assistant"/>
                </a:rPr>
                <a:t>Reduces manual HR </a:t>
              </a:r>
              <a:r>
                <a:rPr lang="en-US" sz="2400" spc="41" dirty="0">
                  <a:solidFill>
                    <a:srgbClr val="0E182F"/>
                  </a:solidFill>
                  <a:latin typeface="Roboto" panose="02000000000000000000" pitchFamily="2" charset="0"/>
                  <a:ea typeface="Roboto" panose="02000000000000000000" pitchFamily="2" charset="0"/>
                  <a:cs typeface="Roboto" panose="02000000000000000000" pitchFamily="2" charset="0"/>
                  <a:sym typeface="Assistant"/>
                </a:rPr>
                <a:t>analysis.</a:t>
              </a:r>
            </a:p>
            <a:p>
              <a:pPr marL="600630" lvl="1" indent="-300315" algn="just">
                <a:lnSpc>
                  <a:spcPts val="2781"/>
                </a:lnSpc>
                <a:buFont typeface="Arial"/>
                <a:buChar char="•"/>
              </a:pPr>
              <a:r>
                <a:rPr lang="en-US" sz="2400" spc="41" dirty="0">
                  <a:solidFill>
                    <a:srgbClr val="0E182F"/>
                  </a:solidFill>
                  <a:latin typeface="Roboto" panose="02000000000000000000" pitchFamily="2" charset="0"/>
                  <a:ea typeface="Roboto" panose="02000000000000000000" pitchFamily="2" charset="0"/>
                  <a:cs typeface="Roboto" panose="02000000000000000000" pitchFamily="2" charset="0"/>
                  <a:sym typeface="Assistant"/>
                </a:rPr>
                <a:t>Supports faster and more informed decision-making.</a:t>
              </a:r>
            </a:p>
            <a:p>
              <a:pPr marL="600630" lvl="1" indent="-300315" algn="just">
                <a:lnSpc>
                  <a:spcPts val="2781"/>
                </a:lnSpc>
                <a:buFont typeface="Arial"/>
                <a:buChar char="•"/>
              </a:pPr>
              <a:r>
                <a:rPr lang="en-US" sz="2400" spc="41" dirty="0">
                  <a:solidFill>
                    <a:srgbClr val="0E182F"/>
                  </a:solidFill>
                  <a:latin typeface="Roboto" panose="02000000000000000000" pitchFamily="2" charset="0"/>
                  <a:ea typeface="Roboto" panose="02000000000000000000" pitchFamily="2" charset="0"/>
                  <a:cs typeface="Roboto" panose="02000000000000000000" pitchFamily="2" charset="0"/>
                  <a:sym typeface="Assistant"/>
                </a:rPr>
                <a:t>Helps identify employees at risk of leaving.</a:t>
              </a:r>
            </a:p>
            <a:p>
              <a:pPr marL="600630" lvl="1" indent="-300315" algn="just">
                <a:lnSpc>
                  <a:spcPts val="2781"/>
                </a:lnSpc>
                <a:buFont typeface="Arial"/>
                <a:buChar char="•"/>
              </a:pPr>
              <a:r>
                <a:rPr lang="en-US" sz="2400" spc="41" dirty="0">
                  <a:solidFill>
                    <a:srgbClr val="0E182F"/>
                  </a:solidFill>
                  <a:latin typeface="Roboto" panose="02000000000000000000" pitchFamily="2" charset="0"/>
                  <a:ea typeface="Roboto" panose="02000000000000000000" pitchFamily="2" charset="0"/>
                  <a:cs typeface="Roboto" panose="02000000000000000000" pitchFamily="2" charset="0"/>
                  <a:sym typeface="Assistant"/>
                </a:rPr>
                <a:t>Improves employee retention strategies.</a:t>
              </a:r>
            </a:p>
            <a:p>
              <a:pPr marL="600630" lvl="1" indent="-300315" algn="just">
                <a:lnSpc>
                  <a:spcPts val="2781"/>
                </a:lnSpc>
                <a:buFont typeface="Arial"/>
                <a:buChar char="•"/>
              </a:pPr>
              <a:r>
                <a:rPr lang="en-US" sz="2400" spc="41" dirty="0">
                  <a:solidFill>
                    <a:srgbClr val="0E182F"/>
                  </a:solidFill>
                  <a:latin typeface="Roboto" panose="02000000000000000000" pitchFamily="2" charset="0"/>
                  <a:ea typeface="Roboto" panose="02000000000000000000" pitchFamily="2" charset="0"/>
                  <a:cs typeface="Roboto" panose="02000000000000000000" pitchFamily="2" charset="0"/>
                  <a:sym typeface="Assistant"/>
                </a:rPr>
                <a:t>Provides an easy-to-use and interactive web application</a:t>
              </a:r>
              <a:r>
                <a:rPr lang="en-US" sz="2781" spc="41" dirty="0">
                  <a:solidFill>
                    <a:srgbClr val="0E182F"/>
                  </a:solidFill>
                  <a:latin typeface="Roboto" panose="02000000000000000000" pitchFamily="2" charset="0"/>
                  <a:ea typeface="Roboto" panose="02000000000000000000" pitchFamily="2" charset="0"/>
                  <a:cs typeface="Roboto" panose="02000000000000000000" pitchFamily="2" charset="0"/>
                  <a:sym typeface="Assistant"/>
                </a:rPr>
                <a:t>.</a:t>
              </a:r>
            </a:p>
            <a:p>
              <a:pPr algn="just">
                <a:lnSpc>
                  <a:spcPts val="2481"/>
                </a:lnSpc>
              </a:pPr>
              <a:endParaRPr lang="en-US" sz="2781" spc="41" dirty="0">
                <a:solidFill>
                  <a:srgbClr val="0E182F"/>
                </a:solidFill>
                <a:latin typeface="Assistant"/>
                <a:ea typeface="Assistant"/>
                <a:cs typeface="Assistant"/>
                <a:sym typeface="Assistant"/>
              </a:endParaRPr>
            </a:p>
          </p:txBody>
        </p:sp>
      </p:grpSp>
      <p:sp>
        <p:nvSpPr>
          <p:cNvPr id="6" name="Freeform 6"/>
          <p:cNvSpPr/>
          <p:nvPr/>
        </p:nvSpPr>
        <p:spPr>
          <a:xfrm flipH="1" flipV="1">
            <a:off x="16310046" y="-2312817"/>
            <a:ext cx="8623491" cy="8750775"/>
          </a:xfrm>
          <a:custGeom>
            <a:avLst/>
            <a:gdLst/>
            <a:ahLst/>
            <a:cxnLst/>
            <a:rect l="l" t="t" r="r" b="b"/>
            <a:pathLst>
              <a:path w="8623491" h="8750775">
                <a:moveTo>
                  <a:pt x="8623491" y="8750775"/>
                </a:moveTo>
                <a:lnTo>
                  <a:pt x="0" y="8750775"/>
                </a:lnTo>
                <a:lnTo>
                  <a:pt x="0" y="0"/>
                </a:lnTo>
                <a:lnTo>
                  <a:pt x="8623491" y="0"/>
                </a:lnTo>
                <a:lnTo>
                  <a:pt x="8623491" y="8750775"/>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a:p>
        </p:txBody>
      </p:sp>
      <p:sp>
        <p:nvSpPr>
          <p:cNvPr id="7" name="Freeform 7"/>
          <p:cNvSpPr/>
          <p:nvPr/>
        </p:nvSpPr>
        <p:spPr>
          <a:xfrm>
            <a:off x="-6602986" y="4702906"/>
            <a:ext cx="8623491" cy="8750775"/>
          </a:xfrm>
          <a:custGeom>
            <a:avLst/>
            <a:gdLst/>
            <a:ahLst/>
            <a:cxnLst/>
            <a:rect l="l" t="t" r="r" b="b"/>
            <a:pathLst>
              <a:path w="8623491" h="8750775">
                <a:moveTo>
                  <a:pt x="0" y="0"/>
                </a:moveTo>
                <a:lnTo>
                  <a:pt x="8623491" y="0"/>
                </a:lnTo>
                <a:lnTo>
                  <a:pt x="8623491" y="8750775"/>
                </a:lnTo>
                <a:lnTo>
                  <a:pt x="0" y="8750775"/>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a:p>
        </p:txBody>
      </p:sp>
      <p:sp>
        <p:nvSpPr>
          <p:cNvPr id="8" name="Freeform 8"/>
          <p:cNvSpPr/>
          <p:nvPr/>
        </p:nvSpPr>
        <p:spPr>
          <a:xfrm rot="-10800000">
            <a:off x="6125872" y="9311584"/>
            <a:ext cx="6036256" cy="3303478"/>
          </a:xfrm>
          <a:custGeom>
            <a:avLst/>
            <a:gdLst/>
            <a:ahLst/>
            <a:cxnLst/>
            <a:rect l="l" t="t" r="r" b="b"/>
            <a:pathLst>
              <a:path w="6036256" h="3303478">
                <a:moveTo>
                  <a:pt x="0" y="0"/>
                </a:moveTo>
                <a:lnTo>
                  <a:pt x="6036256" y="0"/>
                </a:lnTo>
                <a:lnTo>
                  <a:pt x="6036256" y="3303479"/>
                </a:lnTo>
                <a:lnTo>
                  <a:pt x="0" y="3303479"/>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IN"/>
          </a:p>
        </p:txBody>
      </p:sp>
      <p:sp>
        <p:nvSpPr>
          <p:cNvPr id="9" name="Freeform 9"/>
          <p:cNvSpPr/>
          <p:nvPr/>
        </p:nvSpPr>
        <p:spPr>
          <a:xfrm>
            <a:off x="12619022" y="4151100"/>
            <a:ext cx="2945656" cy="4114800"/>
          </a:xfrm>
          <a:custGeom>
            <a:avLst/>
            <a:gdLst/>
            <a:ahLst/>
            <a:cxnLst/>
            <a:rect l="l" t="t" r="r" b="b"/>
            <a:pathLst>
              <a:path w="2945656" h="4114800">
                <a:moveTo>
                  <a:pt x="0" y="0"/>
                </a:moveTo>
                <a:lnTo>
                  <a:pt x="2945656" y="0"/>
                </a:lnTo>
                <a:lnTo>
                  <a:pt x="2945656" y="4114800"/>
                </a:lnTo>
                <a:lnTo>
                  <a:pt x="0" y="4114800"/>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IN"/>
          </a:p>
        </p:txBody>
      </p:sp>
      <p:sp>
        <p:nvSpPr>
          <p:cNvPr id="10" name="TextBox 10"/>
          <p:cNvSpPr txBox="1"/>
          <p:nvPr/>
        </p:nvSpPr>
        <p:spPr>
          <a:xfrm>
            <a:off x="4364024" y="2272120"/>
            <a:ext cx="9559952" cy="622360"/>
          </a:xfrm>
          <a:prstGeom prst="rect">
            <a:avLst/>
          </a:prstGeom>
        </p:spPr>
        <p:txBody>
          <a:bodyPr lIns="0" tIns="0" rIns="0" bIns="0" rtlCol="0" anchor="t">
            <a:spAutoFit/>
          </a:bodyPr>
          <a:lstStyle/>
          <a:p>
            <a:pPr algn="ctr">
              <a:lnSpc>
                <a:spcPts val="4400"/>
              </a:lnSpc>
            </a:pPr>
            <a:r>
              <a:rPr lang="en-US" sz="5501" u="sng">
                <a:solidFill>
                  <a:srgbClr val="73098E"/>
                </a:solidFill>
                <a:latin typeface="Roca One"/>
                <a:ea typeface="Roca One"/>
                <a:cs typeface="Roca One"/>
                <a:sym typeface="Roca One"/>
              </a:rPr>
              <a:t>Results &amp; Benefits</a:t>
            </a:r>
          </a:p>
        </p:txBody>
      </p:sp>
      <p:sp>
        <p:nvSpPr>
          <p:cNvPr id="11" name="TextBox 11"/>
          <p:cNvSpPr txBox="1"/>
          <p:nvPr/>
        </p:nvSpPr>
        <p:spPr>
          <a:xfrm>
            <a:off x="2619390" y="3163904"/>
            <a:ext cx="10449074" cy="2090316"/>
          </a:xfrm>
          <a:prstGeom prst="rect">
            <a:avLst/>
          </a:prstGeom>
        </p:spPr>
        <p:txBody>
          <a:bodyPr lIns="0" tIns="0" rIns="0" bIns="0" rtlCol="0" anchor="t">
            <a:spAutoFit/>
          </a:bodyPr>
          <a:lstStyle/>
          <a:p>
            <a:pPr algn="l">
              <a:lnSpc>
                <a:spcPts val="2781"/>
              </a:lnSpc>
              <a:spcBef>
                <a:spcPct val="0"/>
              </a:spcBef>
            </a:pPr>
            <a:r>
              <a:rPr lang="en-US" sz="2781" b="1" spc="41" dirty="0">
                <a:solidFill>
                  <a:srgbClr val="0D1C38"/>
                </a:solidFill>
                <a:latin typeface="Assistant Bold"/>
                <a:ea typeface="Assistant Bold"/>
                <a:cs typeface="Assistant Bold"/>
                <a:sym typeface="Assistant Bold"/>
              </a:rPr>
              <a:t>Project Results</a:t>
            </a:r>
          </a:p>
          <a:p>
            <a:pPr marL="579041" lvl="1" indent="-289520" algn="l">
              <a:lnSpc>
                <a:spcPts val="2681"/>
              </a:lnSpc>
              <a:buFont typeface="Arial"/>
              <a:buChar char="•"/>
            </a:pPr>
            <a:r>
              <a:rPr lang="en-US" sz="2400" spc="40" dirty="0">
                <a:solidFill>
                  <a:srgbClr val="0D1C38"/>
                </a:solidFill>
                <a:latin typeface="Roboto" panose="02000000000000000000" pitchFamily="2" charset="0"/>
                <a:ea typeface="Roboto" panose="02000000000000000000" pitchFamily="2" charset="0"/>
                <a:cs typeface="Roboto" panose="02000000000000000000" pitchFamily="2" charset="0"/>
                <a:sym typeface="Assistant"/>
              </a:rPr>
              <a:t>Successfully predicts whether an employee is likely to Stay or Leave.</a:t>
            </a:r>
          </a:p>
          <a:p>
            <a:pPr marL="579041" lvl="1" indent="-289520" algn="l">
              <a:lnSpc>
                <a:spcPts val="2681"/>
              </a:lnSpc>
              <a:buFont typeface="Arial"/>
              <a:buChar char="•"/>
            </a:pPr>
            <a:r>
              <a:rPr lang="en-US" sz="2400" spc="40" dirty="0">
                <a:solidFill>
                  <a:srgbClr val="0D1C38"/>
                </a:solidFill>
                <a:latin typeface="Roboto" panose="02000000000000000000" pitchFamily="2" charset="0"/>
                <a:ea typeface="Roboto" panose="02000000000000000000" pitchFamily="2" charset="0"/>
                <a:cs typeface="Roboto" panose="02000000000000000000" pitchFamily="2" charset="0"/>
                <a:sym typeface="Assistant"/>
              </a:rPr>
              <a:t>Provides a confidence score for every prediction.</a:t>
            </a:r>
          </a:p>
          <a:p>
            <a:pPr marL="579041" lvl="1" indent="-289520" algn="l">
              <a:lnSpc>
                <a:spcPts val="2681"/>
              </a:lnSpc>
              <a:buFont typeface="Arial"/>
              <a:buChar char="•"/>
            </a:pPr>
            <a:r>
              <a:rPr lang="en-US" sz="2400" spc="40" dirty="0">
                <a:solidFill>
                  <a:srgbClr val="0D1C38"/>
                </a:solidFill>
                <a:latin typeface="Roboto" panose="02000000000000000000" pitchFamily="2" charset="0"/>
                <a:ea typeface="Roboto" panose="02000000000000000000" pitchFamily="2" charset="0"/>
                <a:cs typeface="Roboto" panose="02000000000000000000" pitchFamily="2" charset="0"/>
                <a:sym typeface="Assistant"/>
              </a:rPr>
              <a:t>Displays the employee risk level (High/Low).</a:t>
            </a:r>
          </a:p>
          <a:p>
            <a:pPr marL="579041" lvl="1" indent="-289520" algn="l">
              <a:lnSpc>
                <a:spcPts val="2681"/>
              </a:lnSpc>
              <a:buFont typeface="Arial"/>
              <a:buChar char="•"/>
            </a:pPr>
            <a:r>
              <a:rPr lang="en-US" sz="2400" spc="40" dirty="0">
                <a:solidFill>
                  <a:srgbClr val="0D1C38"/>
                </a:solidFill>
                <a:latin typeface="Roboto" panose="02000000000000000000" pitchFamily="2" charset="0"/>
                <a:ea typeface="Roboto" panose="02000000000000000000" pitchFamily="2" charset="0"/>
                <a:cs typeface="Roboto" panose="02000000000000000000" pitchFamily="2" charset="0"/>
                <a:sym typeface="Assistant"/>
              </a:rPr>
              <a:t>Generates HR recommendations based on the prediction.</a:t>
            </a:r>
          </a:p>
          <a:p>
            <a:pPr marL="579041" lvl="1" indent="-289520" algn="l">
              <a:lnSpc>
                <a:spcPts val="2681"/>
              </a:lnSpc>
              <a:buFont typeface="Arial"/>
              <a:buChar char="•"/>
            </a:pPr>
            <a:r>
              <a:rPr lang="en-US" sz="2400" spc="40" dirty="0">
                <a:solidFill>
                  <a:srgbClr val="0D1C38"/>
                </a:solidFill>
                <a:latin typeface="Roboto" panose="02000000000000000000" pitchFamily="2" charset="0"/>
                <a:ea typeface="Roboto" panose="02000000000000000000" pitchFamily="2" charset="0"/>
                <a:cs typeface="Roboto" panose="02000000000000000000" pitchFamily="2" charset="0"/>
                <a:sym typeface="Assistant"/>
              </a:rPr>
              <a:t>Allows users to download a prediction report.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2"/>
            <a:stretch>
              <a:fillRect l="-15597" r="-15597"/>
            </a:stretch>
          </a:blipFill>
        </p:spPr>
        <p:txBody>
          <a:bodyPr/>
          <a:lstStyle/>
          <a:p>
            <a:endParaRPr lang="en-IN"/>
          </a:p>
        </p:txBody>
      </p:sp>
      <p:grpSp>
        <p:nvGrpSpPr>
          <p:cNvPr id="3" name="Group 3"/>
          <p:cNvGrpSpPr/>
          <p:nvPr/>
        </p:nvGrpSpPr>
        <p:grpSpPr>
          <a:xfrm>
            <a:off x="1030186" y="1028700"/>
            <a:ext cx="16229114" cy="8229600"/>
            <a:chOff x="0" y="0"/>
            <a:chExt cx="4274335" cy="2167467"/>
          </a:xfrm>
        </p:grpSpPr>
        <p:sp>
          <p:nvSpPr>
            <p:cNvPr id="4" name="Freeform 4"/>
            <p:cNvSpPr/>
            <p:nvPr/>
          </p:nvSpPr>
          <p:spPr>
            <a:xfrm>
              <a:off x="0" y="0"/>
              <a:ext cx="4274334" cy="2167467"/>
            </a:xfrm>
            <a:custGeom>
              <a:avLst/>
              <a:gdLst/>
              <a:ahLst/>
              <a:cxnLst/>
              <a:rect l="l" t="t" r="r" b="b"/>
              <a:pathLst>
                <a:path w="4274334" h="2167467">
                  <a:moveTo>
                    <a:pt x="0" y="0"/>
                  </a:moveTo>
                  <a:lnTo>
                    <a:pt x="4274334" y="0"/>
                  </a:lnTo>
                  <a:lnTo>
                    <a:pt x="4274334" y="2167467"/>
                  </a:lnTo>
                  <a:lnTo>
                    <a:pt x="0" y="2167467"/>
                  </a:lnTo>
                  <a:close/>
                </a:path>
              </a:pathLst>
            </a:custGeom>
            <a:solidFill>
              <a:srgbClr val="FEFEFE"/>
            </a:solidFill>
          </p:spPr>
          <p:txBody>
            <a:bodyPr/>
            <a:lstStyle/>
            <a:p>
              <a:endParaRPr lang="en-IN"/>
            </a:p>
          </p:txBody>
        </p:sp>
        <p:sp>
          <p:nvSpPr>
            <p:cNvPr id="5" name="TextBox 5"/>
            <p:cNvSpPr txBox="1"/>
            <p:nvPr/>
          </p:nvSpPr>
          <p:spPr>
            <a:xfrm>
              <a:off x="0" y="57150"/>
              <a:ext cx="4274335" cy="2110317"/>
            </a:xfrm>
            <a:prstGeom prst="rect">
              <a:avLst/>
            </a:prstGeom>
          </p:spPr>
          <p:txBody>
            <a:bodyPr lIns="50800" tIns="50800" rIns="50800" bIns="50800" rtlCol="0" anchor="ctr"/>
            <a:lstStyle/>
            <a:p>
              <a:pPr algn="ctr">
                <a:lnSpc>
                  <a:spcPts val="2481"/>
                </a:lnSpc>
              </a:pPr>
              <a:endParaRPr/>
            </a:p>
          </p:txBody>
        </p:sp>
      </p:grpSp>
      <p:sp>
        <p:nvSpPr>
          <p:cNvPr id="6" name="Freeform 6"/>
          <p:cNvSpPr/>
          <p:nvPr/>
        </p:nvSpPr>
        <p:spPr>
          <a:xfrm flipH="1" flipV="1">
            <a:off x="16310046" y="-2312817"/>
            <a:ext cx="8623491" cy="8750775"/>
          </a:xfrm>
          <a:custGeom>
            <a:avLst/>
            <a:gdLst/>
            <a:ahLst/>
            <a:cxnLst/>
            <a:rect l="l" t="t" r="r" b="b"/>
            <a:pathLst>
              <a:path w="8623491" h="8750775">
                <a:moveTo>
                  <a:pt x="8623491" y="8750775"/>
                </a:moveTo>
                <a:lnTo>
                  <a:pt x="0" y="8750775"/>
                </a:lnTo>
                <a:lnTo>
                  <a:pt x="0" y="0"/>
                </a:lnTo>
                <a:lnTo>
                  <a:pt x="8623491" y="0"/>
                </a:lnTo>
                <a:lnTo>
                  <a:pt x="8623491" y="8750775"/>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7" name="Freeform 7"/>
          <p:cNvSpPr/>
          <p:nvPr/>
        </p:nvSpPr>
        <p:spPr>
          <a:xfrm>
            <a:off x="-6630940" y="3864288"/>
            <a:ext cx="8623491" cy="8750775"/>
          </a:xfrm>
          <a:custGeom>
            <a:avLst/>
            <a:gdLst/>
            <a:ahLst/>
            <a:cxnLst/>
            <a:rect l="l" t="t" r="r" b="b"/>
            <a:pathLst>
              <a:path w="8623491" h="8750775">
                <a:moveTo>
                  <a:pt x="0" y="0"/>
                </a:moveTo>
                <a:lnTo>
                  <a:pt x="8623491" y="0"/>
                </a:lnTo>
                <a:lnTo>
                  <a:pt x="8623491" y="8750775"/>
                </a:lnTo>
                <a:lnTo>
                  <a:pt x="0" y="8750775"/>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8" name="Freeform 8"/>
          <p:cNvSpPr/>
          <p:nvPr/>
        </p:nvSpPr>
        <p:spPr>
          <a:xfrm rot="-10800000">
            <a:off x="6125872" y="9311584"/>
            <a:ext cx="6036256" cy="3303478"/>
          </a:xfrm>
          <a:custGeom>
            <a:avLst/>
            <a:gdLst/>
            <a:ahLst/>
            <a:cxnLst/>
            <a:rect l="l" t="t" r="r" b="b"/>
            <a:pathLst>
              <a:path w="6036256" h="3303478">
                <a:moveTo>
                  <a:pt x="0" y="0"/>
                </a:moveTo>
                <a:lnTo>
                  <a:pt x="6036256" y="0"/>
                </a:lnTo>
                <a:lnTo>
                  <a:pt x="6036256" y="3303479"/>
                </a:lnTo>
                <a:lnTo>
                  <a:pt x="0" y="330347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a:p>
        </p:txBody>
      </p:sp>
      <p:sp>
        <p:nvSpPr>
          <p:cNvPr id="9" name="Freeform 9"/>
          <p:cNvSpPr/>
          <p:nvPr/>
        </p:nvSpPr>
        <p:spPr>
          <a:xfrm>
            <a:off x="1030186" y="922967"/>
            <a:ext cx="15279861" cy="8335333"/>
          </a:xfrm>
          <a:custGeom>
            <a:avLst/>
            <a:gdLst/>
            <a:ahLst/>
            <a:cxnLst/>
            <a:rect l="l" t="t" r="r" b="b"/>
            <a:pathLst>
              <a:path w="15279861" h="8335333">
                <a:moveTo>
                  <a:pt x="0" y="0"/>
                </a:moveTo>
                <a:lnTo>
                  <a:pt x="15279860" y="0"/>
                </a:lnTo>
                <a:lnTo>
                  <a:pt x="15279860" y="8335333"/>
                </a:lnTo>
                <a:lnTo>
                  <a:pt x="0" y="8335333"/>
                </a:lnTo>
                <a:lnTo>
                  <a:pt x="0" y="0"/>
                </a:lnTo>
                <a:close/>
              </a:path>
            </a:pathLst>
          </a:custGeom>
          <a:blipFill>
            <a:blip r:embed="rId5"/>
            <a:stretch>
              <a:fillRect l="-4034" t="-47994" r="-2187" b="-46725"/>
            </a:stretch>
          </a:blipFill>
        </p:spPr>
        <p:txBody>
          <a:bodyPr/>
          <a:lstStyle/>
          <a:p>
            <a:endParaRPr lang="en-IN"/>
          </a:p>
        </p:txBody>
      </p:sp>
      <p:sp>
        <p:nvSpPr>
          <p:cNvPr id="10" name="TextBox 10"/>
          <p:cNvSpPr txBox="1"/>
          <p:nvPr/>
        </p:nvSpPr>
        <p:spPr>
          <a:xfrm>
            <a:off x="3659588" y="3807138"/>
            <a:ext cx="10983422" cy="5345430"/>
          </a:xfrm>
          <a:prstGeom prst="rect">
            <a:avLst/>
          </a:prstGeom>
        </p:spPr>
        <p:txBody>
          <a:bodyPr lIns="0" tIns="0" rIns="0" bIns="0" rtlCol="0" anchor="t">
            <a:spAutoFit/>
          </a:bodyPr>
          <a:lstStyle/>
          <a:p>
            <a:pPr marL="604523" lvl="1" indent="-302261" algn="l">
              <a:lnSpc>
                <a:spcPts val="3920"/>
              </a:lnSpc>
              <a:buFont typeface="Arial"/>
              <a:buChar char="•"/>
            </a:pPr>
            <a:r>
              <a:rPr lang="en-US" sz="2800" b="1" spc="42">
                <a:solidFill>
                  <a:srgbClr val="73098E"/>
                </a:solidFill>
                <a:latin typeface="Assistant Bold"/>
                <a:ea typeface="Assistant Bold"/>
                <a:cs typeface="Assistant Bold"/>
                <a:sym typeface="Assistant Bold"/>
              </a:rPr>
              <a:t>Successfully developed an Employee Retention Predictor using Machine Learning.</a:t>
            </a:r>
          </a:p>
          <a:p>
            <a:pPr marL="604523" lvl="1" indent="-302261" algn="l">
              <a:lnSpc>
                <a:spcPts val="3920"/>
              </a:lnSpc>
              <a:buFont typeface="Arial"/>
              <a:buChar char="•"/>
            </a:pPr>
            <a:r>
              <a:rPr lang="en-US" sz="2800" b="1" spc="42">
                <a:solidFill>
                  <a:srgbClr val="73098E"/>
                </a:solidFill>
                <a:latin typeface="Assistant Bold"/>
                <a:ea typeface="Assistant Bold"/>
                <a:cs typeface="Assistant Bold"/>
                <a:sym typeface="Assistant Bold"/>
              </a:rPr>
              <a:t>The application predicts whether an employee is likely to Stay or Leave.</a:t>
            </a:r>
          </a:p>
          <a:p>
            <a:pPr marL="604523" lvl="1" indent="-302261" algn="l">
              <a:lnSpc>
                <a:spcPts val="3920"/>
              </a:lnSpc>
              <a:buFont typeface="Arial"/>
              <a:buChar char="•"/>
            </a:pPr>
            <a:r>
              <a:rPr lang="en-US" sz="2800" b="1" spc="42">
                <a:solidFill>
                  <a:srgbClr val="73098E"/>
                </a:solidFill>
                <a:latin typeface="Assistant Bold"/>
                <a:ea typeface="Assistant Bold"/>
                <a:cs typeface="Assistant Bold"/>
                <a:sym typeface="Assistant Bold"/>
              </a:rPr>
              <a:t>It provides confidence scores, risk levels, and HR recommendations.</a:t>
            </a:r>
          </a:p>
          <a:p>
            <a:pPr marL="604523" lvl="1" indent="-302261" algn="l">
              <a:lnSpc>
                <a:spcPts val="3920"/>
              </a:lnSpc>
              <a:buFont typeface="Arial"/>
              <a:buChar char="•"/>
            </a:pPr>
            <a:r>
              <a:rPr lang="en-US" sz="2800" b="1" spc="42">
                <a:solidFill>
                  <a:srgbClr val="73098E"/>
                </a:solidFill>
                <a:latin typeface="Assistant Bold"/>
                <a:ea typeface="Assistant Bold"/>
                <a:cs typeface="Assistant Bold"/>
                <a:sym typeface="Assistant Bold"/>
              </a:rPr>
              <a:t>The system helps HR departments make faster and more informed decisions.</a:t>
            </a:r>
          </a:p>
          <a:p>
            <a:pPr marL="604523" lvl="1" indent="-302261" algn="l">
              <a:lnSpc>
                <a:spcPts val="3920"/>
              </a:lnSpc>
              <a:buFont typeface="Arial"/>
              <a:buChar char="•"/>
            </a:pPr>
            <a:r>
              <a:rPr lang="en-US" sz="2800" b="1" spc="42">
                <a:solidFill>
                  <a:srgbClr val="73098E"/>
                </a:solidFill>
                <a:latin typeface="Assistant Bold"/>
                <a:ea typeface="Assistant Bold"/>
                <a:cs typeface="Assistant Bold"/>
                <a:sym typeface="Assistant Bold"/>
              </a:rPr>
              <a:t>The Streamlit-based interface is simple, interactive, and user-friendly.</a:t>
            </a:r>
          </a:p>
          <a:p>
            <a:pPr algn="l">
              <a:lnSpc>
                <a:spcPts val="3220"/>
              </a:lnSpc>
            </a:pPr>
            <a:endParaRPr lang="en-US" sz="2800" b="1" spc="42">
              <a:solidFill>
                <a:srgbClr val="73098E"/>
              </a:solidFill>
              <a:latin typeface="Assistant Bold"/>
              <a:ea typeface="Assistant Bold"/>
              <a:cs typeface="Assistant Bold"/>
              <a:sym typeface="Assistant Bold"/>
            </a:endParaRPr>
          </a:p>
        </p:txBody>
      </p:sp>
      <p:sp>
        <p:nvSpPr>
          <p:cNvPr id="11" name="TextBox 11"/>
          <p:cNvSpPr txBox="1"/>
          <p:nvPr/>
        </p:nvSpPr>
        <p:spPr>
          <a:xfrm>
            <a:off x="5486682" y="2873676"/>
            <a:ext cx="7314637" cy="990611"/>
          </a:xfrm>
          <a:prstGeom prst="rect">
            <a:avLst/>
          </a:prstGeom>
        </p:spPr>
        <p:txBody>
          <a:bodyPr lIns="0" tIns="0" rIns="0" bIns="0" rtlCol="0" anchor="t">
            <a:spAutoFit/>
          </a:bodyPr>
          <a:lstStyle/>
          <a:p>
            <a:pPr algn="l">
              <a:lnSpc>
                <a:spcPts val="6900"/>
              </a:lnSpc>
            </a:pPr>
            <a:r>
              <a:rPr lang="en-US" sz="8625">
                <a:solidFill>
                  <a:srgbClr val="1D0E2F"/>
                </a:solidFill>
                <a:latin typeface="Roca One"/>
                <a:ea typeface="Roca One"/>
                <a:cs typeface="Roca One"/>
                <a:sym typeface="Roca One"/>
              </a:rPr>
              <a:t>Conclusion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5597" r="-15597"/>
            </a:stretch>
          </a:blipFill>
        </p:spPr>
        <p:txBody>
          <a:bodyPr/>
          <a:lstStyle/>
          <a:p>
            <a:endParaRPr lang="en-IN"/>
          </a:p>
        </p:txBody>
      </p:sp>
      <p:grpSp>
        <p:nvGrpSpPr>
          <p:cNvPr id="3" name="Group 3"/>
          <p:cNvGrpSpPr/>
          <p:nvPr/>
        </p:nvGrpSpPr>
        <p:grpSpPr>
          <a:xfrm>
            <a:off x="-235271" y="4565874"/>
            <a:ext cx="5902101" cy="7974702"/>
            <a:chOff x="0" y="0"/>
            <a:chExt cx="7869467" cy="10632936"/>
          </a:xfrm>
        </p:grpSpPr>
        <p:sp>
          <p:nvSpPr>
            <p:cNvPr id="4" name="Freeform 4"/>
            <p:cNvSpPr/>
            <p:nvPr/>
          </p:nvSpPr>
          <p:spPr>
            <a:xfrm>
              <a:off x="0" y="0"/>
              <a:ext cx="7869467" cy="7869467"/>
            </a:xfrm>
            <a:custGeom>
              <a:avLst/>
              <a:gdLst/>
              <a:ahLst/>
              <a:cxnLst/>
              <a:rect l="l" t="t" r="r" b="b"/>
              <a:pathLst>
                <a:path w="7869467" h="7869467">
                  <a:moveTo>
                    <a:pt x="0" y="0"/>
                  </a:moveTo>
                  <a:lnTo>
                    <a:pt x="7869467" y="0"/>
                  </a:lnTo>
                  <a:lnTo>
                    <a:pt x="7869467" y="7869467"/>
                  </a:lnTo>
                  <a:lnTo>
                    <a:pt x="0" y="7869467"/>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5" name="Freeform 5"/>
            <p:cNvSpPr/>
            <p:nvPr/>
          </p:nvSpPr>
          <p:spPr>
            <a:xfrm>
              <a:off x="313695" y="6497867"/>
              <a:ext cx="7555772" cy="4135068"/>
            </a:xfrm>
            <a:custGeom>
              <a:avLst/>
              <a:gdLst/>
              <a:ahLst/>
              <a:cxnLst/>
              <a:rect l="l" t="t" r="r" b="b"/>
              <a:pathLst>
                <a:path w="7555772" h="4135068">
                  <a:moveTo>
                    <a:pt x="0" y="0"/>
                  </a:moveTo>
                  <a:lnTo>
                    <a:pt x="7555772" y="0"/>
                  </a:lnTo>
                  <a:lnTo>
                    <a:pt x="7555772" y="4135069"/>
                  </a:lnTo>
                  <a:lnTo>
                    <a:pt x="0" y="413506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a:p>
          </p:txBody>
        </p:sp>
      </p:grpSp>
      <p:grpSp>
        <p:nvGrpSpPr>
          <p:cNvPr id="6" name="Group 6"/>
          <p:cNvGrpSpPr/>
          <p:nvPr/>
        </p:nvGrpSpPr>
        <p:grpSpPr>
          <a:xfrm rot="-10800000">
            <a:off x="12385899" y="-2268953"/>
            <a:ext cx="5902101" cy="7974702"/>
            <a:chOff x="0" y="0"/>
            <a:chExt cx="7869467" cy="10632936"/>
          </a:xfrm>
        </p:grpSpPr>
        <p:sp>
          <p:nvSpPr>
            <p:cNvPr id="7" name="Freeform 7"/>
            <p:cNvSpPr/>
            <p:nvPr/>
          </p:nvSpPr>
          <p:spPr>
            <a:xfrm>
              <a:off x="0" y="0"/>
              <a:ext cx="7869467" cy="7869467"/>
            </a:xfrm>
            <a:custGeom>
              <a:avLst/>
              <a:gdLst/>
              <a:ahLst/>
              <a:cxnLst/>
              <a:rect l="l" t="t" r="r" b="b"/>
              <a:pathLst>
                <a:path w="7869467" h="7869467">
                  <a:moveTo>
                    <a:pt x="0" y="0"/>
                  </a:moveTo>
                  <a:lnTo>
                    <a:pt x="7869467" y="0"/>
                  </a:lnTo>
                  <a:lnTo>
                    <a:pt x="7869467" y="7869467"/>
                  </a:lnTo>
                  <a:lnTo>
                    <a:pt x="0" y="7869467"/>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8" name="Freeform 8"/>
            <p:cNvSpPr/>
            <p:nvPr/>
          </p:nvSpPr>
          <p:spPr>
            <a:xfrm>
              <a:off x="313695" y="6497867"/>
              <a:ext cx="7555772" cy="4135068"/>
            </a:xfrm>
            <a:custGeom>
              <a:avLst/>
              <a:gdLst/>
              <a:ahLst/>
              <a:cxnLst/>
              <a:rect l="l" t="t" r="r" b="b"/>
              <a:pathLst>
                <a:path w="7555772" h="4135068">
                  <a:moveTo>
                    <a:pt x="0" y="0"/>
                  </a:moveTo>
                  <a:lnTo>
                    <a:pt x="7555772" y="0"/>
                  </a:lnTo>
                  <a:lnTo>
                    <a:pt x="7555772" y="4135069"/>
                  </a:lnTo>
                  <a:lnTo>
                    <a:pt x="0" y="413506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a:p>
          </p:txBody>
        </p:sp>
      </p:grpSp>
      <p:sp>
        <p:nvSpPr>
          <p:cNvPr id="9" name="Freeform 9"/>
          <p:cNvSpPr/>
          <p:nvPr/>
        </p:nvSpPr>
        <p:spPr>
          <a:xfrm>
            <a:off x="-2672315" y="-776716"/>
            <a:ext cx="4054948" cy="4114800"/>
          </a:xfrm>
          <a:custGeom>
            <a:avLst/>
            <a:gdLst/>
            <a:ahLst/>
            <a:cxnLst/>
            <a:rect l="l" t="t" r="r" b="b"/>
            <a:pathLst>
              <a:path w="4054948" h="4114800">
                <a:moveTo>
                  <a:pt x="0" y="0"/>
                </a:moveTo>
                <a:lnTo>
                  <a:pt x="4054948" y="0"/>
                </a:lnTo>
                <a:lnTo>
                  <a:pt x="4054948" y="4114800"/>
                </a:lnTo>
                <a:lnTo>
                  <a:pt x="0" y="411480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IN"/>
          </a:p>
        </p:txBody>
      </p:sp>
      <p:sp>
        <p:nvSpPr>
          <p:cNvPr id="10" name="Freeform 10"/>
          <p:cNvSpPr/>
          <p:nvPr/>
        </p:nvSpPr>
        <p:spPr>
          <a:xfrm flipH="1" flipV="1">
            <a:off x="16884370" y="7044598"/>
            <a:ext cx="4054948" cy="4114800"/>
          </a:xfrm>
          <a:custGeom>
            <a:avLst/>
            <a:gdLst/>
            <a:ahLst/>
            <a:cxnLst/>
            <a:rect l="l" t="t" r="r" b="b"/>
            <a:pathLst>
              <a:path w="4054948" h="4114800">
                <a:moveTo>
                  <a:pt x="4054949" y="4114800"/>
                </a:moveTo>
                <a:lnTo>
                  <a:pt x="0" y="4114800"/>
                </a:lnTo>
                <a:lnTo>
                  <a:pt x="0" y="0"/>
                </a:lnTo>
                <a:lnTo>
                  <a:pt x="4054949" y="0"/>
                </a:lnTo>
                <a:lnTo>
                  <a:pt x="4054949" y="411480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IN"/>
          </a:p>
        </p:txBody>
      </p:sp>
      <p:sp>
        <p:nvSpPr>
          <p:cNvPr id="11" name="TextBox 11"/>
          <p:cNvSpPr txBox="1"/>
          <p:nvPr/>
        </p:nvSpPr>
        <p:spPr>
          <a:xfrm>
            <a:off x="8680216" y="8511973"/>
            <a:ext cx="7411367" cy="1152066"/>
          </a:xfrm>
          <a:prstGeom prst="rect">
            <a:avLst/>
          </a:prstGeom>
        </p:spPr>
        <p:txBody>
          <a:bodyPr lIns="0" tIns="0" rIns="0" bIns="0" rtlCol="0" anchor="t">
            <a:spAutoFit/>
          </a:bodyPr>
          <a:lstStyle/>
          <a:p>
            <a:pPr algn="ctr">
              <a:lnSpc>
                <a:spcPts val="4481"/>
              </a:lnSpc>
            </a:pPr>
            <a:r>
              <a:rPr lang="en-US" sz="4481" spc="67">
                <a:solidFill>
                  <a:srgbClr val="0D1C38"/>
                </a:solidFill>
                <a:latin typeface="Assistant"/>
                <a:ea typeface="Assistant"/>
                <a:cs typeface="Assistant"/>
                <a:sym typeface="Assistant"/>
              </a:rPr>
              <a:t>Presented by: BHUVANESHWARI . C</a:t>
            </a:r>
          </a:p>
        </p:txBody>
      </p:sp>
      <p:sp>
        <p:nvSpPr>
          <p:cNvPr id="12" name="TextBox 12"/>
          <p:cNvSpPr txBox="1"/>
          <p:nvPr/>
        </p:nvSpPr>
        <p:spPr>
          <a:xfrm>
            <a:off x="3813536" y="2814094"/>
            <a:ext cx="9733360" cy="4687618"/>
          </a:xfrm>
          <a:prstGeom prst="rect">
            <a:avLst/>
          </a:prstGeom>
        </p:spPr>
        <p:txBody>
          <a:bodyPr lIns="0" tIns="0" rIns="0" bIns="0" rtlCol="0" anchor="t">
            <a:spAutoFit/>
          </a:bodyPr>
          <a:lstStyle/>
          <a:p>
            <a:pPr algn="l">
              <a:lnSpc>
                <a:spcPts val="18328"/>
              </a:lnSpc>
            </a:pPr>
            <a:r>
              <a:rPr lang="en-US" sz="16219">
                <a:solidFill>
                  <a:srgbClr val="73098E"/>
                </a:solidFill>
                <a:latin typeface="Roca One"/>
                <a:ea typeface="Roca One"/>
                <a:cs typeface="Roca One"/>
                <a:sym typeface="Roca One"/>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TotalTime>
  <Words>634</Words>
  <Application>Microsoft Office PowerPoint</Application>
  <PresentationFormat>Custom</PresentationFormat>
  <Paragraphs>158</Paragraphs>
  <Slides>11</Slides>
  <Notes>2</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11</vt:i4>
      </vt:variant>
    </vt:vector>
  </HeadingPairs>
  <TitlesOfParts>
    <vt:vector size="21" baseType="lpstr">
      <vt:lpstr>Assistant Bold</vt:lpstr>
      <vt:lpstr>Calibri</vt:lpstr>
      <vt:lpstr>Roca One Bold</vt:lpstr>
      <vt:lpstr>Arial</vt:lpstr>
      <vt:lpstr>Roboto</vt:lpstr>
      <vt:lpstr>Aptos</vt:lpstr>
      <vt:lpstr>Assistant</vt:lpstr>
      <vt:lpstr>Roboto Bold</vt:lpstr>
      <vt:lpstr>Roca One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Employee Retention Predictor</dc:title>
  <cp:lastModifiedBy>Pradeep Yuvaraj</cp:lastModifiedBy>
  <cp:revision>1</cp:revision>
  <dcterms:created xsi:type="dcterms:W3CDTF">2006-08-16T00:00:00Z</dcterms:created>
  <dcterms:modified xsi:type="dcterms:W3CDTF">2026-07-21T10:30:52Z</dcterms:modified>
  <dc:identifier>DAHP6NXMIwk</dc:identifier>
</cp:coreProperties>
</file>